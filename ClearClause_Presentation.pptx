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0"/>
          </a:xfrm>
          <a:prstGeom prst="rect">
            <a:avLst/>
          </a:prstGeom>
          <a:solidFill>
            <a:srgbClr val="1F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6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42A20"/>
                </a:solidFill>
                <a:latin typeface="Cambria"/>
              </a:rPr>
              <a:t>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86868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6F5EC"/>
                </a:solidFill>
                <a:latin typeface="Calibri"/>
              </a:rPr>
              <a:t>AI Contract Risk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43000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ClearClause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6F5EC"/>
                </a:solidFill>
                <a:latin typeface="Calibri"/>
              </a:rPr>
              <a:t>TURNING DENSE LEGAL TEXT INTO 60-SECOND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6F5EC"/>
                </a:solidFill>
                <a:latin typeface="Calibri"/>
              </a:rPr>
              <a:t>A hybrid NLP system that segments freelance and professional contracts,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F6F5EC"/>
                </a:solidFill>
                <a:latin typeface="Calibri"/>
              </a:rPr>
              <a:t>detects 17 categories of risky clauses, scores the document, benchmarks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F6F5EC"/>
                </a:solidFill>
                <a:latin typeface="Calibri"/>
              </a:rPr>
              <a:t>each clause against a fair-contract standard, and coaches the user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F6F5EC"/>
                </a:solidFill>
                <a:latin typeface="Calibri"/>
              </a:rPr>
              <a:t>through the specific negotiation moves to make before signing.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17720"/>
            <a:ext cx="1051560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PROJECT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20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D18"/>
                </a:solidFill>
                <a:latin typeface="Cambria"/>
              </a:rPr>
              <a:t>Shehroz 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A62"/>
                </a:solidFill>
                <a:latin typeface="Calibri"/>
              </a:rPr>
              <a:t>Roll No · MSDSF25M012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5120640"/>
            <a:ext cx="8000" cy="914400"/>
          </a:xfrm>
          <a:prstGeom prst="rect">
            <a:avLst/>
          </a:prstGeom>
          <a:solidFill>
            <a:srgbClr val="E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120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D18"/>
                </a:solidFill>
                <a:latin typeface="Cambria"/>
              </a:rPr>
              <a:t>Arslan Ahmad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577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A62"/>
                </a:solidFill>
                <a:latin typeface="Calibri"/>
              </a:rPr>
              <a:t>Roll No · MSDSF25M001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A40"/>
                </a:solidFill>
                <a:latin typeface="Calibri"/>
              </a:rPr>
              <a:t>MS Data Science · Natural Language Processing · Spring 2026 Final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github.com/ShehrozRafaqat/ClearClause-NLP-Project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github.com/ShehrozRafaqat/ClearClause-NLP-Project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Contracts are written for lawyers, not freelancers.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43029"/>
                </a:solidFill>
                <a:latin typeface="Calibri"/>
              </a:rPr>
              <a:t>Most freelancers and small businesses sign multi-page agreements without fully understanding what they're agreeing to. Risky clauses around IP, termination, liability and exclusivity routinely cost the smaller party more than the project fee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310896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3108960"/>
            <a:ext cx="73152" cy="21945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338328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C2410C"/>
                </a:solidFill>
                <a:latin typeface="Cambria"/>
              </a:rPr>
              <a:t>~4,800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4434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words in the typical freelance contract analysed by ClearClause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310896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9907" y="3108960"/>
            <a:ext cx="73152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338328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5309"/>
                </a:solidFill>
                <a:latin typeface="Cambria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4434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clause categories tracked, from IP and indemnity to auto-renewal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4667" y="310896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4667" y="3108960"/>
            <a:ext cx="73152" cy="219456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987" y="338328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2F5A40"/>
                </a:solidFill>
                <a:latin typeface="Cambria"/>
              </a:rPr>
              <a:t>96/100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987" y="4434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max risk score the highest-risk demo earns before suggested 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10972800" cy="82296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43029"/>
                </a:solidFill>
                <a:latin typeface="Calibri"/>
              </a:rPr>
              <a:t>“Even when the words are clear, the consequences are not. A small wording change in section 9 is often the difference between getting paid in 15 days and waiting 90.”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ClearClause — a hybrid-NLP contract review copilot.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43029"/>
                </a:solidFill>
                <a:latin typeface="Calibri"/>
              </a:rPr>
              <a:t>Upload a contract; ClearClause segments, classifies, scores, explains, benchmarks, answers questions, and exports — entirely offline. An optional Groq layer polishes wording.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999" y="2514600"/>
            <a:ext cx="267004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999" y="2514600"/>
            <a:ext cx="2670048" cy="164592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319" y="283464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D18"/>
                </a:solidFill>
                <a:latin typeface="Cambria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319" y="3383280"/>
            <a:ext cx="221284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17 clause categories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Regex catalog + TF-IDF semantic similarity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Every match is traceable to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5215" y="2514600"/>
            <a:ext cx="267004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5215" y="2514600"/>
            <a:ext cx="2670048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9535" y="283464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D18"/>
                </a:solidFill>
                <a:latin typeface="Cambria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535" y="3383280"/>
            <a:ext cx="221284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0–100 risk score with verdict card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Severity adjustment via red / green flags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Exponential curve avoids saturation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2514600"/>
            <a:ext cx="267004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6431" y="2514600"/>
            <a:ext cx="2670048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751" y="283464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D18"/>
                </a:solidFill>
                <a:latin typeface="Cambria"/>
              </a:rPr>
              <a:t>Coach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3383280"/>
            <a:ext cx="221284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Priority-sorted negotiation checklist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Fair-contract benchmark per clause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Suggested discovery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7647" y="2514600"/>
            <a:ext cx="2670048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7647" y="2514600"/>
            <a:ext cx="2670048" cy="1645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1967" y="283464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D18"/>
                </a:solidFill>
                <a:latin typeface="Cambria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1967" y="3383280"/>
            <a:ext cx="221284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Presentation-quality HTML report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Clause CSV + Markdown pack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43029"/>
                </a:solidFill>
                <a:latin typeface="Calibri"/>
              </a:rPr>
              <a:t>Document-grounded Q&amp;A chat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The NLP pipeline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Each step has a single responsibility and a clean dataclass interface, so the whole pipeline is explainable end-to-end.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697" y="2103120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2017" y="237744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017" y="23957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2097" y="237744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017" y="3017520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TXT / PDF / DOCX → cleaned text + paragraphs.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1328" y="2103120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648" y="237744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648" y="23957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5728" y="237744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648" y="3017520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Block-level section splitter (\Z-anchored regex).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4959" y="2103120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09279" y="2377440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9279" y="23957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9359" y="237744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9279" y="3017520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Regex patterns + TF-IDF semantic similarity + flag counts → confidence.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7697" y="4178807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2017" y="4453127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017" y="4471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2097" y="4453127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017" y="5093207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Confidence-weighted weights, severity bonus/discount, exponential curve.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1328" y="4178807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5648" y="4453127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5648" y="4471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5728" y="4453127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648" y="5093207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Compare each clause to fair-standard text; flag missing core clauses.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4959" y="4178807"/>
            <a:ext cx="3749039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09279" y="4453127"/>
            <a:ext cx="502920" cy="502920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9279" y="4471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9359" y="4453127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Coach +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9279" y="5093207"/>
            <a:ext cx="3291839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Priority checklist, suggested questions, TF-IDF retrieval Q&amp;A.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80760"/>
            <a:ext cx="10972800" cy="50292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2648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2A20"/>
                </a:solidFill>
                <a:latin typeface="Calibri"/>
              </a:rPr>
              <a:t>ParsedDocument  →  Section[]  →  ClauseFinding[]  →  RiskProfile  →  AnalysisResult  →  HTML / CSV / Markdown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THE CLAUSE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17 clause categories grouped into 5 risk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169164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9427" y="1691640"/>
            <a:ext cx="91440" cy="15087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8562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Money &amp; Liability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747" y="2286000"/>
            <a:ext cx="1234440" cy="365760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47" y="228600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Payment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49627" y="2286000"/>
            <a:ext cx="1508760" cy="365760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9627" y="228600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Unlimited 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9827" y="2286000"/>
            <a:ext cx="1325880" cy="365760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9827" y="228600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Indemnification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747" y="2743200"/>
            <a:ext cx="1691640" cy="365760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747" y="2743200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Limitation of 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69164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1691640"/>
            <a:ext cx="91440" cy="1508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4467" y="18562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Ownership &amp;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4467" y="2286000"/>
            <a:ext cx="192024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4467" y="228600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IP Ownership / Work-for-Hire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6147" y="2286000"/>
            <a:ext cx="160020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6147" y="22860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Confidentiality / NDA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4467" y="2743200"/>
            <a:ext cx="169164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4467" y="2743200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Data Privacy /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427" y="333756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427" y="3337560"/>
            <a:ext cx="91440" cy="150876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747" y="35021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Termination &amp; Renewal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3747" y="3931920"/>
            <a:ext cx="1645920" cy="36576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747" y="39319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F5A40"/>
                </a:solidFill>
                <a:latin typeface="Calibri"/>
              </a:rPr>
              <a:t>Unilateral Termination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1107" y="3931920"/>
            <a:ext cx="1417320" cy="36576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1107" y="3931920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F5A40"/>
                </a:solidFill>
                <a:latin typeface="Calibri"/>
              </a:rPr>
              <a:t>Automatic Renewal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7" y="333756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0147" y="3337560"/>
            <a:ext cx="91440" cy="150876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4467" y="35021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Work Freedom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4467" y="3931920"/>
            <a:ext cx="114300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4467" y="393192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8C3B"/>
                </a:solidFill>
                <a:latin typeface="Calibri"/>
              </a:rPr>
              <a:t>Non-Compete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8907" y="3931920"/>
            <a:ext cx="114300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8907" y="393192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8C3B"/>
                </a:solidFill>
                <a:latin typeface="Calibri"/>
              </a:rPr>
              <a:t>Exclusivity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347" y="3931920"/>
            <a:ext cx="1371600" cy="36576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3347" y="393192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8C3B"/>
                </a:solidFill>
                <a:latin typeface="Calibri"/>
              </a:rPr>
              <a:t>Non-Solicitation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427" y="498348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427" y="4983480"/>
            <a:ext cx="91440" cy="15087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747" y="51480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Disputes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3747" y="5577840"/>
            <a:ext cx="1920240" cy="365760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747" y="557784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Calibri"/>
              </a:rPr>
              <a:t>Governing Law &amp; Jurisdiction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35427" y="5577840"/>
            <a:ext cx="1828800" cy="365760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5427" y="55778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D4ED8"/>
                </a:solidFill>
                <a:latin typeface="Calibri"/>
              </a:rPr>
              <a:t>Arbitration / Court Waiver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0147" y="4983480"/>
            <a:ext cx="553212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0147" y="4983480"/>
            <a:ext cx="91440" cy="1508760"/>
          </a:xfrm>
          <a:prstGeom prst="rect">
            <a:avLst/>
          </a:prstGeom>
          <a:solidFill>
            <a:srgbClr val="6F8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4467" y="51480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Operations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84467" y="5577840"/>
            <a:ext cx="1965960" cy="36576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4467" y="5577840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F8D5C"/>
                </a:solidFill>
                <a:latin typeface="Calibri"/>
              </a:rPr>
              <a:t>Scope, Acceptance &amp; Revisions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41867" y="5577840"/>
            <a:ext cx="2011680" cy="36576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1867" y="557784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F8D5C"/>
                </a:solidFill>
                <a:latin typeface="Calibri"/>
              </a:rPr>
              <a:t>Assignment / Change of Control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84467" y="6035040"/>
            <a:ext cx="1600200" cy="36576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4467" y="603504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F8D5C"/>
                </a:solidFill>
                <a:latin typeface="Calibri"/>
              </a:rPr>
              <a:t>Effective Date &amp; Term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HOW DETECTION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Three signals combine into one explainable confidence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91440" cy="15544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1 · Regex catalog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Hand-curated patterns and red/green flag terms per clause.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Captures the explicit, traceable signal.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Example: \birrevocably assigns?\b → IP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91440" cy="1554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2 · TF-IDF semantic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Cosine similarity between each section and the rule's prototype text.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Catches paraphrased or unusual wording the regex misses.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Adds a continuous signal alongside binary pattern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3 · Red / green flag counters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Red flags (e.g. 'unlimited', 'sole discretion') push severity up.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Green/balancing flags (e.g. 'fees paid', 'mutual') pull severity down.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3029"/>
                </a:solidFill>
                <a:latin typeface="Calibri"/>
              </a:rPr>
              <a:t>Drives the per-clause severity adjustment.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166360" cy="4937760"/>
          </a:xfrm>
          <a:prstGeom prst="roundRect">
            <a:avLst>
              <a:gd name="adj" fmla="val 7000"/>
            </a:avLst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WORKED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IP Ownership clause in the high-risk freelance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606040"/>
            <a:ext cx="4617720" cy="137160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43200"/>
            <a:ext cx="4343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43029"/>
                </a:solidFill>
                <a:latin typeface="Calibri"/>
              </a:rPr>
              <a:t>"To the extent any work product is not work-for-hire, Contractor irrevocably assigns all right, title, and interest in such intellectual property to Client. Client shall exclusively own all deliverables."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Regex pattern matches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16052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intellectual property · irrevocably assigns · all right, title,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897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Red flag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48970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irrevocably · exclusively owned · all 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1888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Green / balancing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81888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(none)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480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TF-IDF similarity to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514807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0.42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47725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Final 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5477256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0.98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80644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Adjusted severity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80644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6F5EC"/>
                </a:solidFill>
                <a:latin typeface="Calibri"/>
              </a:rPr>
              <a:t>HIGH (no demotion — no balancing language)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RISK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Transparent formula. No saturation at the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0292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243029"/>
                </a:solidFill>
                <a:latin typeface="Consolas"/>
              </a:rPr>
              <a:t>contribution = (weight + red_bonus − green_discount) × conf_factor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43029"/>
                </a:solidFill>
                <a:latin typeface="Consolas"/>
              </a:rPr>
              <a:t>raw_total = Σ contributions + 3.5·high_count + 1.25·medium_count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43029"/>
                </a:solidFill>
                <a:latin typeface="Consolas"/>
              </a:rPr>
              <a:t>if raw_total ≤ 60:    score = round(raw_total)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43029"/>
                </a:solidFill>
                <a:latin typeface="Consolas"/>
              </a:rPr>
              <a:t>else:                  score = round(60 + 36·(1 − exp(−(raw_total − 60) / 160)))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243029"/>
                </a:solidFill>
                <a:latin typeface="Consolas"/>
              </a:rPr>
              <a:t>                       ⇒ asymptote ≈ 96, ceiling =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54864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Verdict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914400" cy="292608"/>
          </a:xfrm>
          <a:prstGeom prst="roundRect">
            <a:avLst>
              <a:gd name="adj" fmla="val 40000"/>
            </a:avLst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≥ 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21208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1B0A"/>
                </a:solidFill>
                <a:latin typeface="Calibri"/>
              </a:rPr>
              <a:t>Critical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212080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Do not sign in current 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504688"/>
            <a:ext cx="914400" cy="292608"/>
          </a:xfrm>
          <a:prstGeom prst="roundRect">
            <a:avLst>
              <a:gd name="adj" fmla="val 4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60 – 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50468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High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504688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Revisions required before signing.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97296"/>
            <a:ext cx="914400" cy="292608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9729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 – 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797296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Review Carefully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97296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Manageable; clarify wording.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089904"/>
            <a:ext cx="914400" cy="292608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89904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&lt;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6089904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5803D"/>
                </a:solidFill>
                <a:latin typeface="Calibri"/>
              </a:rPr>
              <a:t>Low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608990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Final read-through recommended.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554480"/>
            <a:ext cx="5166360" cy="489204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6916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Score saturation, before vs.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10312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Before the curve, two very different bad contracts both hit 100. After the curve they spread out — the dashboard finally has range.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00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Freelance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236976"/>
            <a:ext cx="3474720" cy="228600"/>
          </a:xfrm>
          <a:prstGeom prst="rect">
            <a:avLst/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236976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before ·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566160"/>
            <a:ext cx="3127248" cy="228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566160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after · 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023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SaaS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059936"/>
            <a:ext cx="3474720" cy="228600"/>
          </a:xfrm>
          <a:prstGeom prst="rect">
            <a:avLst/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4059936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before · 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4389120"/>
            <a:ext cx="2953512" cy="228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4389120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after · 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8463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Influencer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4882896"/>
            <a:ext cx="3474720" cy="228600"/>
          </a:xfrm>
          <a:prstGeom prst="rect">
            <a:avLst/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4882896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before · 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5212080"/>
            <a:ext cx="2779776" cy="228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5212080"/>
            <a:ext cx="3474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after · 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98932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A62"/>
                </a:solidFill>
                <a:latin typeface="Calibri"/>
              </a:rPr>
              <a:t>Spread now 90 → 85 → 80 → 53 → 25 across all 5 demos.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NEGOTIATION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From detection to action — what to ask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86400" cy="4663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91440" cy="4663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D18"/>
                </a:solidFill>
                <a:latin typeface="Cambria"/>
              </a:rPr>
              <a:t>#1 · Indemnification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74519"/>
            <a:ext cx="777240" cy="292608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74519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2410C"/>
                </a:solidFill>
                <a:latin typeface="Calibri"/>
              </a:rPr>
              <a:t>HIGH · 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6A62"/>
                </a:solidFill>
                <a:latin typeface="Calibri"/>
              </a:rPr>
              <a:t>Legal-defense costs can be much higher than the project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71800"/>
            <a:ext cx="201168" cy="201168"/>
          </a:xfrm>
          <a:prstGeom prst="roundRect">
            <a:avLst>
              <a:gd name="adj" fmla="val 45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8036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Make indemnity mutual: each party covers claims it actually caused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74720"/>
            <a:ext cx="201168" cy="201168"/>
          </a:xfrm>
          <a:prstGeom prst="roundRect">
            <a:avLst>
              <a:gd name="adj" fmla="val 45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8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8328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Limit the trigger to 'to the extent caused by' your own breach, negligence, or IP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40"/>
            <a:ext cx="201168" cy="201168"/>
          </a:xfrm>
          <a:prstGeom prst="roundRect">
            <a:avLst>
              <a:gd name="adj" fmla="val 45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8620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Require the client to control defense and let you approve any settlement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00200"/>
            <a:ext cx="5166360" cy="4663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78308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Fair-contract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4884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Each detected clause is compared to a fair-standard version. Missing standard clauses are flagged too.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926080"/>
            <a:ext cx="4617720" cy="329184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3522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Clause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35224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93522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Detected language vs. fair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918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IP Ownership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337560"/>
            <a:ext cx="1051560" cy="219456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337560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2410C"/>
                </a:solidFill>
                <a:latin typeface="Calibri"/>
              </a:rPr>
              <a:t>high-risk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291840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Irrevocable assignment with no carve-outs.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648456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Unilateral Termination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694176"/>
            <a:ext cx="1051560" cy="219456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694176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2410C"/>
                </a:solidFill>
                <a:latin typeface="Calibri"/>
              </a:rPr>
              <a:t>high-risk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648456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Sole-discretion termination, no kill fee.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005072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Liability Cap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050792"/>
            <a:ext cx="1051560" cy="219456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4050792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45309"/>
                </a:solidFill>
                <a:latin typeface="Calibri"/>
              </a:rPr>
              <a:t>concerning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05072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One-sided cap protects only the client.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361688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Confidentiality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4407408"/>
            <a:ext cx="1051560" cy="219456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407408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fair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36168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Mutual, 3-year term, standard exceptions.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718304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Non-Solicitation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4764024"/>
            <a:ext cx="1051560" cy="219456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764024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D4ED8"/>
                </a:solidFill>
                <a:latin typeface="Calibri"/>
              </a:rPr>
              <a:t>missing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718304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Standard clause not present — ask why.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INLINE REDLINE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Full contract with risky spans highlighted in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The Streamlit redline view stitches all detected spans back into the source text so a reviewer can see at a glance which paragraphs need attention — hover any highlight for the clause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097280" cy="320040"/>
          </a:xfrm>
          <a:prstGeom prst="roundRect">
            <a:avLst>
              <a:gd name="adj" fmla="val 45000"/>
            </a:avLst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HIGH ·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51460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MEDIUM ·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514600"/>
            <a:ext cx="1097280" cy="320040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5803D"/>
                </a:solidFill>
                <a:latin typeface="Calibri"/>
              </a:rPr>
              <a:t>LOW ·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A62"/>
                </a:solidFill>
                <a:latin typeface="Calibri"/>
              </a:rPr>
              <a:t>(from the high-risk freelance demo)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10972800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154680"/>
            <a:ext cx="10607040" cy="306324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onsolas"/>
              </a:rPr>
              <a:t>3. Intellectual Property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739896"/>
            <a:ext cx="10241280" cy="246888"/>
          </a:xfrm>
          <a:prstGeom prst="rect">
            <a:avLst/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968496"/>
            <a:ext cx="10241280" cy="2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onsolas"/>
              </a:rPr>
              <a:t>Contractor irrevocably assigns all right, title, and interest to Client.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onsolas"/>
              </a:rPr>
              <a:t>5. Non-Compete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517136"/>
            <a:ext cx="10241280" cy="246888"/>
          </a:xfrm>
          <a:prstGeom prst="rect">
            <a:avLst/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745736"/>
            <a:ext cx="10241280" cy="2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onsolas"/>
              </a:rPr>
              <a:t>Contractor shall not compete with Client for 24 months after termination.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3776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onsolas"/>
              </a:rPr>
              <a:t>8. Termination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294375"/>
            <a:ext cx="10241280" cy="246888"/>
          </a:xfrm>
          <a:prstGeom prst="rect">
            <a:avLst/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5522975"/>
            <a:ext cx="10241280" cy="2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57799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onsolas"/>
              </a:rPr>
              <a:t>Client may terminate this Agreement at its convenience upon 7 days notice.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onsolas"/>
              </a:rPr>
              <a:t>12. Governing Law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071616"/>
            <a:ext cx="10241280" cy="246888"/>
          </a:xfrm>
          <a:prstGeom prst="rect">
            <a:avLst/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6300216"/>
            <a:ext cx="10241280" cy="20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03504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onsolas"/>
              </a:rPr>
              <a:t>Governed by the laws of Delaware; exclusive jurisdiction in New Castle County.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ASK THE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Grounded retrieval Q&amp;A — no hallucinations.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Retrieval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48640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2199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D18"/>
                </a:solidFill>
                <a:latin typeface="Cambria"/>
              </a:rPr>
              <a:t>Chunk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1460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Split into ~950-char overlapping paragraphs.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48640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18211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2724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D18"/>
                </a:solidFill>
                <a:latin typeface="Cambria"/>
              </a:rPr>
              <a:t>Match clause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7472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Keyword map for 17 topics → shortcut to detected clause.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40"/>
            <a:ext cx="548640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14223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42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8736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D18"/>
                </a:solidFill>
                <a:latin typeface="Cambria"/>
              </a:rPr>
              <a:t>TF-IDF 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3484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Cosine top-k chunks for the user's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548640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10235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0474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D18"/>
                </a:solidFill>
                <a:latin typeface="Cambria"/>
              </a:rPr>
              <a:t>Respond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9496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43029"/>
                </a:solidFill>
                <a:latin typeface="Calibri"/>
              </a:rPr>
              <a:t>Use the clause's plain-English answer + cite contract evidence.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600200"/>
            <a:ext cx="5166360" cy="4937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73736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D18"/>
                </a:solidFill>
                <a:latin typeface="Cambria"/>
              </a:rPr>
              <a:t>Example exchange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194560"/>
            <a:ext cx="3977640" cy="594360"/>
          </a:xfrm>
          <a:prstGeom prst="roundRect">
            <a:avLst>
              <a:gd name="adj" fmla="val 7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194560"/>
            <a:ext cx="3749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Who owns the final source code?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926080"/>
            <a:ext cx="3977640" cy="329184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017520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Detected: IP Ownership (HIGH · 98% confidence)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383280"/>
            <a:ext cx="3703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43029"/>
                </a:solidFill>
                <a:latin typeface="Calibri"/>
              </a:rPr>
              <a:t>Plain English: The contract assigns all IP, source code, and deliverables to the client. You will not own the finished work.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43029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43029"/>
                </a:solidFill>
                <a:latin typeface="Calibri"/>
              </a:rPr>
              <a:t>Negotiation note: Carve out pre-existing tools, templates, and generic libraries; reserve portfolio display rights.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43029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43029"/>
                </a:solidFill>
                <a:latin typeface="Calibri"/>
              </a:rPr>
              <a:t>Evidence: "Contractor irrevocably assigns all right, title, and interest in such intellectual property to Client. Client shall exclusively own all deliverables."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Score, verdict, radar, KPI strip, and ranked red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1554480"/>
            <a:ext cx="21945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1645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Risk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19019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A1B0A"/>
                </a:solidFill>
                <a:latin typeface="Cambria"/>
              </a:rPr>
              <a:t>90/100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6847" y="1554480"/>
            <a:ext cx="21945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9727" y="1645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High-risk clauses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9727" y="19019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2410C"/>
                </a:solidFill>
                <a:latin typeface="Cambria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8567" y="1554480"/>
            <a:ext cx="21945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1645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Medium-risk clauses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19019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45309"/>
                </a:solidFill>
                <a:latin typeface="Cambria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0287" y="1554480"/>
            <a:ext cx="21945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3167" y="1645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Low + Info clauses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3167" y="19019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5803D"/>
                </a:solidFill>
                <a:latin typeface="Cambria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2007" y="1554480"/>
            <a:ext cx="21945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4887" y="1645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Avg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4887" y="19019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5A40"/>
                </a:solidFill>
                <a:latin typeface="Cambria"/>
              </a:rPr>
              <a:t>89%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97480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697480"/>
            <a:ext cx="109728" cy="960120"/>
          </a:xfrm>
          <a:prstGeom prst="rect">
            <a:avLst/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CLEARCLAUSE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0449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D18"/>
                </a:solidFill>
                <a:latin typeface="Cambria"/>
              </a:rPr>
              <a:t>Critical Risk — Do not sign in the current 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37560"/>
            <a:ext cx="10058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Concentrates several high-severity clauses against one party. Push for revisions on the priority red flags before signing.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447" y="3840480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327" y="3977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Composite risk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2367" y="5166360"/>
            <a:ext cx="768096" cy="365760"/>
          </a:xfrm>
          <a:prstGeom prst="rect">
            <a:avLst/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80463" y="5166360"/>
            <a:ext cx="768096" cy="365760"/>
          </a:xfrm>
          <a:prstGeom prst="rect">
            <a:avLst/>
          </a:prstGeom>
          <a:solidFill>
            <a:srgbClr val="FDF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48559" y="5166360"/>
            <a:ext cx="460857" cy="365760"/>
          </a:xfrm>
          <a:prstGeom prst="rect">
            <a:avLst/>
          </a:prstGeom>
          <a:solidFill>
            <a:srgbClr val="FE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9417" y="5166360"/>
            <a:ext cx="563270" cy="365760"/>
          </a:xfrm>
          <a:prstGeom prst="rect">
            <a:avLst/>
          </a:prstGeom>
          <a:solidFill>
            <a:srgbClr val="F8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6655" y="5074920"/>
            <a:ext cx="40000" cy="548640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327" y="56692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2410C"/>
                </a:solidFill>
                <a:latin typeface="Cambria"/>
              </a:rPr>
              <a:t>90/100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327" y="6080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Critical Risk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2767" y="3840480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5647" y="3977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Risk by business 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5647" y="438912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Money exposure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30087" y="4462272"/>
            <a:ext cx="2018995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8887" y="43891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D18"/>
                </a:solidFill>
                <a:latin typeface="Calibri"/>
              </a:rPr>
              <a:t>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5647" y="47548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Ownership &amp;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0087" y="4828032"/>
            <a:ext cx="1843430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58887" y="47548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D18"/>
                </a:solidFill>
                <a:latin typeface="Calibri"/>
              </a:rPr>
              <a:t>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5647" y="51206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Work freedom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30087" y="5193792"/>
            <a:ext cx="1931212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8887" y="51206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D18"/>
                </a:solidFill>
                <a:latin typeface="Calibri"/>
              </a:rPr>
              <a:t>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647" y="548640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Disputes &amp; enforcement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30087" y="5559552"/>
            <a:ext cx="1536192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8887" y="54864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D18"/>
                </a:solidFill>
                <a:latin typeface="Calibri"/>
              </a:rPr>
              <a:t>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5647" y="585216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3029"/>
                </a:solidFill>
                <a:latin typeface="Calibri"/>
              </a:rPr>
              <a:t>Operational clarity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30087" y="5925312"/>
            <a:ext cx="987552" cy="164592"/>
          </a:xfrm>
          <a:prstGeom prst="rect">
            <a:avLst/>
          </a:prstGeom>
          <a:solidFill>
            <a:srgbClr val="6F8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8887" y="58521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D18"/>
                </a:solidFill>
                <a:latin typeface="Calibri"/>
              </a:rPr>
              <a:t>45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16087" y="3840480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8967" y="3977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Priority red flags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98967" y="4343400"/>
            <a:ext cx="3200400" cy="4114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98967" y="4343400"/>
            <a:ext cx="54864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6127" y="434340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Indemnification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0606" y="4343400"/>
            <a:ext cx="1508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6A62"/>
                </a:solidFill>
                <a:latin typeface="Calibri"/>
              </a:rPr>
              <a:t>Legal-defense costs can exceed project value.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98967" y="4818888"/>
            <a:ext cx="3200400" cy="4114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98967" y="4818888"/>
            <a:ext cx="54864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6127" y="4818888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IP Ownership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90606" y="4818888"/>
            <a:ext cx="1508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6A62"/>
                </a:solidFill>
                <a:latin typeface="Calibri"/>
              </a:rPr>
              <a:t>Loss of source-code and portfolio rights.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98967" y="5294376"/>
            <a:ext cx="3200400" cy="4114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98967" y="5294376"/>
            <a:ext cx="54864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6127" y="5294376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Non-Compete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90606" y="5294376"/>
            <a:ext cx="1508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6A62"/>
                </a:solidFill>
                <a:latin typeface="Calibri"/>
              </a:rPr>
              <a:t>Blocks main source of income after contract.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98967" y="5769864"/>
            <a:ext cx="3200400" cy="4114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98967" y="5769864"/>
            <a:ext cx="54864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6127" y="5769864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Unlimited Liability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90606" y="5769864"/>
            <a:ext cx="1508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6A62"/>
                </a:solidFill>
                <a:latin typeface="Calibri"/>
              </a:rPr>
              <a:t>Personal exposure beyond fee.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Gold (in-domain) + held-out (out-of-domain) = honest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The hand-curated gold set scores 1.00 across the board, but that's the optimistic number because the catalog was tuned against this contract. The held-out demo is from a completely different domain (influencer marketing) and reports the realistic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2468880"/>
            <a:ext cx="5440680" cy="3337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727" y="2468880"/>
            <a:ext cx="5440680" cy="45720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514600"/>
            <a:ext cx="4892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Gold demo · high-risk freelance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06324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17 expected clause IDs · catalog was tuned against this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047" y="3520440"/>
            <a:ext cx="73152" cy="100584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4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5A40"/>
                </a:solidFill>
                <a:latin typeface="Cambria"/>
              </a:rPr>
              <a:t>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682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6827" y="3520440"/>
            <a:ext cx="73152" cy="100584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542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42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5A40"/>
                </a:solidFill>
                <a:latin typeface="Cambria"/>
              </a:rPr>
              <a:t>1.00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75607" y="3520440"/>
            <a:ext cx="73152" cy="100584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420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420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5A40"/>
                </a:solidFill>
                <a:latin typeface="Cambria"/>
              </a:rPr>
              <a:t>1.00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" y="4709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libri"/>
              </a:rPr>
              <a:t>TP: 17  ·  FP: 0  ·  FN: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" y="502920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Every expected clause type is detected. Confidence is high (avg 0.87), and severity counts (7 HIGH / 8 MEDIUM) match a sensible legal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468880"/>
            <a:ext cx="5440680" cy="3337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287" y="2468880"/>
            <a:ext cx="5440680" cy="4572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2514600"/>
            <a:ext cx="4892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Held-out · creator / influencer agreement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306324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11 expected clause IDs · catalog was NOT tuned for this domain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160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61607" y="3520440"/>
            <a:ext cx="73152" cy="1005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020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2410C"/>
                </a:solidFill>
                <a:latin typeface="Cambria"/>
              </a:rPr>
              <a:t>0.92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038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0387" y="3520440"/>
            <a:ext cx="73152" cy="100584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898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898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5A40"/>
                </a:solidFill>
                <a:latin typeface="Cambria"/>
              </a:rPr>
              <a:t>1.00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99167" y="3520440"/>
            <a:ext cx="155448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99167" y="3520440"/>
            <a:ext cx="73152" cy="1005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7767" y="36301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F1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7767" y="38862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B45309"/>
                </a:solidFill>
                <a:latin typeface="Cambria"/>
              </a:rPr>
              <a:t>0.96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7" y="4709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libri"/>
              </a:rPr>
              <a:t>TP: 11  ·  FP: 1 (non_compete)  ·  FN: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1607" y="502920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The one false positive (non_compete) flags a section that is really 'Category Exclusivity'. Honest failure mode worth discussing in viva — a real limit of the catalog on creator contracts.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989320"/>
            <a:ext cx="10972800" cy="45720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016752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A20"/>
                </a:solidFill>
                <a:latin typeface="Calibri"/>
              </a:rPr>
              <a:t>21 / 21 unit tests pass · pipeline, exports, Q&amp;A, score spread, held-out evaluation, calibration, redline rendering.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SCORE SPREAD +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The model is well-calibrated and the gauge has real range.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Risk score across the 5 bundled 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Same pipeline, no per-contract tuning. Each demo lands in a distinct band.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High-risk freelance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599" y="2651760"/>
            <a:ext cx="2880360" cy="274320"/>
          </a:xfrm>
          <a:prstGeom prst="rect">
            <a:avLst/>
          </a:prstGeom>
          <a:solidFill>
            <a:srgbClr val="9A1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399" y="265176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1B0A"/>
                </a:solidFill>
                <a:latin typeface="Calibri"/>
              </a:rPr>
              <a:t>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599" y="2971800"/>
            <a:ext cx="868680" cy="228600"/>
          </a:xfrm>
          <a:prstGeom prst="roundRect">
            <a:avLst>
              <a:gd name="adj" fmla="val 45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2971800"/>
            <a:ext cx="868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9A1B0A"/>
                </a:solidFill>
                <a:latin typeface="Calibri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SaaS subscription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599" y="3429000"/>
            <a:ext cx="2720340" cy="274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6379" y="342900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599" y="3749040"/>
            <a:ext cx="868680" cy="228600"/>
          </a:xfrm>
          <a:prstGeom prst="roundRect">
            <a:avLst>
              <a:gd name="adj" fmla="val 45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599" y="3749040"/>
            <a:ext cx="868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2410C"/>
                </a:solidFill>
                <a:latin typeface="Calibri"/>
              </a:rP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Held-out influencer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599" y="4206240"/>
            <a:ext cx="2560320" cy="274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59" y="420624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599" y="4526280"/>
            <a:ext cx="868680" cy="228600"/>
          </a:xfrm>
          <a:prstGeom prst="roundRect">
            <a:avLst>
              <a:gd name="adj" fmla="val 45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599" y="4526280"/>
            <a:ext cx="868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2410C"/>
                </a:solidFill>
                <a:latin typeface="Calibri"/>
              </a:rP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Balanced agreement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599" y="4983480"/>
            <a:ext cx="1696212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2251" y="498348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599" y="5303520"/>
            <a:ext cx="868680" cy="228600"/>
          </a:xfrm>
          <a:prstGeom prst="roundRect">
            <a:avLst>
              <a:gd name="adj" fmla="val 45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599" y="5303520"/>
            <a:ext cx="868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45309"/>
                </a:solidFill>
                <a:latin typeface="Calibri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Friendly letter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599" y="5760720"/>
            <a:ext cx="800100" cy="274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6139" y="576072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5803D"/>
                </a:solidFill>
                <a:latin typeface="Calibri"/>
              </a:rPr>
              <a:t>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599" y="6080760"/>
            <a:ext cx="868680" cy="228600"/>
          </a:xfrm>
          <a:prstGeom prst="roundRect">
            <a:avLst>
              <a:gd name="adj" fmla="val 45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599" y="6080760"/>
            <a:ext cx="868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Low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554480"/>
            <a:ext cx="516636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16916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D18"/>
                </a:solidFill>
                <a:latin typeface="Cambria"/>
              </a:rPr>
              <a:t>Confidence calibration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0574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Mean confidence vs. empirical precision per bin, across 29 gold + held-out findings.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7432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[0.55–0.70)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017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n =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2743200"/>
            <a:ext cx="1508760" cy="292608"/>
          </a:xfrm>
          <a:prstGeom prst="rect">
            <a:avLst/>
          </a:prstGeom>
          <a:solidFill>
            <a:srgbClr val="6F8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74320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conf 0.66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108960"/>
            <a:ext cx="1897380" cy="29260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1260" y="310896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prec 0.83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[0.70–0.85)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931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n = 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3657600"/>
            <a:ext cx="1760220" cy="292608"/>
          </a:xfrm>
          <a:prstGeom prst="rect">
            <a:avLst/>
          </a:prstGeom>
          <a:solidFill>
            <a:srgbClr val="6F8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4100" y="365760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conf 0.77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4023360"/>
            <a:ext cx="2286000" cy="29260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9880" y="402336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prec 1.00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572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D18"/>
                </a:solidFill>
                <a:latin typeface="Calibri"/>
              </a:rPr>
              <a:t>[0.85–1.00)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846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n = 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4572000"/>
            <a:ext cx="2171700" cy="292608"/>
          </a:xfrm>
          <a:prstGeom prst="rect">
            <a:avLst/>
          </a:prstGeom>
          <a:solidFill>
            <a:srgbClr val="6F8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55580" y="457200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conf 0.95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4937760"/>
            <a:ext cx="2286000" cy="29260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80" y="493776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F1D18"/>
                </a:solidFill>
                <a:latin typeface="Calibri"/>
              </a:rPr>
              <a:t>prec 1.00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5532120"/>
            <a:ext cx="4617720" cy="77724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5577840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2A20"/>
                </a:solidFill>
                <a:latin typeface="Calibri"/>
              </a:rPr>
              <a:t>Brier = 0.053  ·  ECE = 0.126  ·  overall precision = 0.97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85216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A62"/>
                </a:solidFill>
                <a:latin typeface="Calibri"/>
              </a:rPr>
              <a:t>Model is slightly under-confident: when it says 0.95 it is right 100% of the time.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A $1.86T freelance market with no review layer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The gig economy is now structural, not cyclical. Pakistan is the 4th-largest freelance market in the world. None of the existing legal-tech players serve the people who actually need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51460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2514600"/>
            <a:ext cx="73152" cy="219456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278892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2F5A40"/>
                </a:solidFill>
                <a:latin typeface="Cambria"/>
              </a:rPr>
              <a:t>1.5B+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freelancers and gig workers globally (Statista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251460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9907" y="2514600"/>
            <a:ext cx="73152" cy="21945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278892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C2410C"/>
                </a:solidFill>
                <a:latin typeface="Cambria"/>
              </a:rPr>
              <a:t>$1.86T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projected size of the global gig economy by 2031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4667" y="2514600"/>
            <a:ext cx="361188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4667" y="2514600"/>
            <a:ext cx="73152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987" y="278892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B45309"/>
                </a:solidFill>
                <a:latin typeface="Cambria"/>
              </a:rPr>
              <a:t>4th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987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43029"/>
                </a:solidFill>
                <a:latin typeface="Calibri"/>
              </a:rPr>
              <a:t>Pakistan's global rank by gross freelance earnings (Payoneer)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1097280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D18"/>
                </a:solidFill>
                <a:latin typeface="Cambria"/>
              </a:rPr>
              <a:t>What a freelancer's options look like today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86400"/>
            <a:ext cx="3474720" cy="841248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486400"/>
            <a:ext cx="54864" cy="8412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532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Calibri"/>
              </a:rPr>
              <a:t>$200–$500 /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8521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Hire a lawyer — uneconomic for a $500 project.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486400"/>
            <a:ext cx="3474720" cy="841248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5486400"/>
            <a:ext cx="54864" cy="8412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5532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$40–$300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8521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LegalZoom — helps draft your own, not review the client's.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5486400"/>
            <a:ext cx="3474720" cy="841248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5486400"/>
            <a:ext cx="54864" cy="84124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5532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5A40"/>
                </a:solidFill>
                <a:latin typeface="Calibri"/>
              </a:rPr>
              <a:t>Free, risky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58521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Sign blind — what most freelancers actually do.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TARGET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South-Asian tech freelancer earning from international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754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YEAR-1 ICP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9456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6F5EC"/>
                </a:solidFill>
                <a:latin typeface="Cambria"/>
              </a:rPr>
              <a:t>FL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D18"/>
                </a:solidFill>
                <a:latin typeface="Cambria"/>
              </a:rPr>
              <a:t>Tariq,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A62"/>
                </a:solidFill>
                <a:latin typeface="Calibri"/>
              </a:rPr>
              <a:t>Karachi · Senior dev on Upwork · 3 years freelancing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F5A40"/>
                </a:solidFill>
                <a:latin typeface="Calibri"/>
              </a:rPr>
              <a:t>$5,400 / month from 4 international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749039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22–35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41647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041647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Developer / 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34255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34255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$1k–$8k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26863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626863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Laptop +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19471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19471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GitHub · LinkedIn · Reddit · Discord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79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6A62"/>
                </a:solidFill>
                <a:latin typeface="Calibri"/>
              </a:rPr>
              <a:t>PAYS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212079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D18"/>
                </a:solidFill>
                <a:latin typeface="Calibri"/>
              </a:rPr>
              <a:t>GitHub Pro, ChatGPT Plus, Notion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600200"/>
            <a:ext cx="534924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373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D18"/>
                </a:solidFill>
                <a:latin typeface="Cambria"/>
              </a:rPr>
              <a:t>What hurts him today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331720"/>
            <a:ext cx="4800600" cy="713232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2331720"/>
            <a:ext cx="64008" cy="71323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386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mbria"/>
              </a:rPr>
              <a:t>Lost portfolio rights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66090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Signed a work-for-hire clause; can't show the project he's most proud of.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108960"/>
            <a:ext cx="4800600" cy="713232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108960"/>
            <a:ext cx="64008" cy="71323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638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mbria"/>
              </a:rPr>
              <a:t>Unpaid after termination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3814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Client invoked unilateral termination on day 18; he was unpaid for 12 days of work.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886200"/>
            <a:ext cx="4800600" cy="713232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3886200"/>
            <a:ext cx="6400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9410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mbria"/>
              </a:rPr>
              <a:t>Auto-renew trap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21538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Missed a 60-day non-renewal window on a retainer he wanted to end.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663440"/>
            <a:ext cx="4800600" cy="713232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4663440"/>
            <a:ext cx="64008" cy="71323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7183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mbria"/>
              </a:rPr>
              <a:t>Liability scare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99262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Got a 'pay our legal fees' demand letter that nearly cost him the year's earnings.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440680"/>
            <a:ext cx="4800600" cy="713232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5440680"/>
            <a:ext cx="6400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4955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D18"/>
                </a:solidFill>
                <a:latin typeface="Cambria"/>
              </a:rPr>
              <a:t>Can't read clauses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76986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A62"/>
                </a:solidFill>
                <a:latin typeface="Calibri"/>
              </a:rPr>
              <a:t>Knows section 9 matters but can't parse the legalese, can't afford a lawyer at $300/hr.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The freelancer-friendly, affordable space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Existing legal-tech players target either DIY drafting (LegalZoom) or enterprise CLM (Ironclad, Lawgeex). None of them review a freelancer's incoming contract in 60 seconds for $9.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972800" cy="411480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COMPETITOR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8716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WHO THEY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8716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87168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6F5EC"/>
                </a:solidFill>
                <a:latin typeface="Calibri"/>
              </a:rPr>
              <a:t>WHY CLEARCLAUSE WINS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10972800" cy="530352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LegalZoom / Rocket Lawyer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80360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DIY drafting for small biz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880360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$40–$300/mo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80360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We review what a client sent; they help draft your 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0712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10712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Lawgeex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10712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Enterprise legal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10712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$10k+/yr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10712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B2B-only; out of reach for individuals.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41064"/>
            <a:ext cx="10972800" cy="530352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41064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Ironclad / LinkSquares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941064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Fortune 500 CLM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941064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$50k–$500k/yr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941064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Enterprise CLM, not a freelancer tool.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71416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71416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Harvey AI / Spellbook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471416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Law firms / in-house lawyers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471416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$100s/seat/mo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471416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Built for lawyers, not their clients.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01768"/>
            <a:ext cx="10972800" cy="530352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001768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D18"/>
                </a:solidFill>
                <a:latin typeface="Calibri"/>
              </a:rPr>
              <a:t>ChatGPT / generic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001768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Anyone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001768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Free–$20/mo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001768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No calibrated severity, no playbook, hallucinates.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32120"/>
            <a:ext cx="10972800" cy="530352"/>
          </a:xfrm>
          <a:prstGeom prst="rect">
            <a:avLst/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32120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A20"/>
                </a:solidFill>
                <a:latin typeface="Calibri"/>
              </a:rPr>
              <a:t>ClearClause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532120"/>
            <a:ext cx="3291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Freelancers + small biz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532120"/>
            <a:ext cx="1554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Free / $9 /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532120"/>
            <a:ext cx="3200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42A20"/>
                </a:solidFill>
                <a:latin typeface="Calibri"/>
              </a:rPr>
              <a:t>Freelancer-focused · explainable · offline · negotiation playbook.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Three revenue streams, layered as we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Year 1 focuses on direct freelancer subscriptions — the cleanest unit economics and the shortest sales cycle. Marketplace API and enterprise tiers are the upside.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697480"/>
            <a:ext cx="3611880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2697480"/>
            <a:ext cx="3611880" cy="10972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29718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291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5A40"/>
                </a:solidFill>
                <a:latin typeface="Cambria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977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43029"/>
                </a:solidFill>
                <a:latin typeface="Calibri"/>
              </a:rPr>
              <a:t>Try the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4434840"/>
            <a:ext cx="31546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2 reviews / month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Basic HTML report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Public clause catalog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No credit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0027" y="2313432"/>
            <a:ext cx="1691640" cy="292608"/>
          </a:xfrm>
          <a:prstGeom prst="roundRect">
            <a:avLst>
              <a:gd name="adj" fmla="val 45000"/>
            </a:avLst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0027" y="2313432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9907" y="2697480"/>
            <a:ext cx="3611880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9907" y="2697480"/>
            <a:ext cx="3611880" cy="1097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4227" y="29718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4227" y="3291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2410C"/>
                </a:solidFill>
                <a:latin typeface="Cambria"/>
              </a:rPr>
              <a:t>$9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4227" y="3977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43029"/>
                </a:solidFill>
                <a:latin typeface="Calibri"/>
              </a:rPr>
              <a:t>Individual freelancer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227" y="4434840"/>
            <a:ext cx="31546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Unlimited reviews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Full negotiation pack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Contract history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Email priority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4667" y="2697480"/>
            <a:ext cx="3611880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4667" y="2697480"/>
            <a:ext cx="3611880" cy="109728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8987" y="29718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A62"/>
                </a:solidFill>
                <a:latin typeface="Calibri"/>
              </a:rPr>
              <a:t>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8987" y="3291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2A20"/>
                </a:solidFill>
                <a:latin typeface="Cambria"/>
              </a:rPr>
              <a:t>$29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8987" y="39776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43029"/>
                </a:solidFill>
                <a:latin typeface="Calibri"/>
              </a:rPr>
              <a:t>Agencies, small studios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8987" y="4434840"/>
            <a:ext cx="31546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142A2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Everything in Pro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42A2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Up to 5 seats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42A2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Shared clause library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42A20"/>
                </a:solidFill>
                <a:latin typeface="Calibri"/>
              </a:rPr>
              <a:t>✓  </a:t>
            </a:r>
            <a:r>
              <a:rPr sz="1100">
                <a:solidFill>
                  <a:srgbClr val="243029"/>
                </a:solidFill>
                <a:latin typeface="Calibri"/>
              </a:rPr>
              <a:t>CSV export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035040"/>
            <a:ext cx="10972800" cy="45720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2A20"/>
                </a:solidFill>
                <a:latin typeface="Calibri"/>
              </a:rPr>
              <a:t>B2B upside · marketplace API at ~$0.20 / review for Upwork / Fiverr partners  ·  Enterprise tier at $5k–$25k / year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Community-led launch, then content, then partnerships.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We start where the founders have natural distribution access (Pakistan), expand through English-speaking developing markets, then layer paid + enterprise as unit economics prove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468880"/>
            <a:ext cx="36118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2468880"/>
            <a:ext cx="3611880" cy="164592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2788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5A40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063240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Months 0–6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35584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Community-led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3931920"/>
            <a:ext cx="31546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2F5A40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Pakistani freelance Facebook groups (PFA, KFA)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2F5A40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University CS societies (FAST, NUST, LUMS, COMSATS)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2F5A40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Pakistani freelance YouTube partnerships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2F5A40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Indie Hackers / Reddit r/freelance launch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2F5A40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Free Pro accounts for first 100 written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9907" y="2468880"/>
            <a:ext cx="36118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9907" y="2468880"/>
            <a:ext cx="3611880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4227" y="2788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4227" y="3063240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Months 6–12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227" y="335584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Content + product-led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4227" y="3931920"/>
            <a:ext cx="31546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2410C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30+ SEO articles on freelance contract clauses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2410C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Shareable HTML reports with built-in branding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2410C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Expand to India · Bangladesh · Philippines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2410C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Product Hunt launch (Month 3) → AppSumo deal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C2410C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First marketplace API conversations (Upwork, Fiverr)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4667" y="2468880"/>
            <a:ext cx="36118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4667" y="2468880"/>
            <a:ext cx="3611880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8987" y="2788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3063240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A62"/>
                </a:solidFill>
                <a:latin typeface="Calibri"/>
              </a:rPr>
              <a:t>Months 12–24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8987" y="335584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Paid acquisition + 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8987" y="3931920"/>
            <a:ext cx="31546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LinkedIn performance marketing (freelancers)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Enterprise outbound to freelance unions + agencies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Sign 1–2 marketplace API partners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Launch in UK + EU + US gig-worker markets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●  </a:t>
            </a:r>
            <a:r>
              <a:rPr sz="1000">
                <a:solidFill>
                  <a:srgbClr val="243029"/>
                </a:solidFill>
                <a:latin typeface="Calibri"/>
              </a:rPr>
              <a:t>Stripe-powered self-serve Team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172200"/>
            <a:ext cx="10972800" cy="411480"/>
          </a:xfrm>
          <a:prstGeom prst="roundRect">
            <a:avLst>
              <a:gd name="adj" fmla="val 7000"/>
            </a:avLst>
          </a:prstGeom>
          <a:solidFill>
            <a:srgbClr val="F6F5EC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7220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2A20"/>
                </a:solidFill>
                <a:latin typeface="Calibri"/>
              </a:rPr>
              <a:t>Year-1 unit economics · ARPU $9/mo · CAC ~$8 community-led · gross margin ~85% · LTV/CAC ~17×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BUSINESS PLAN · SCALE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From Streamlit MVP to multi-tenant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43029"/>
                </a:solidFill>
                <a:latin typeface="Calibri"/>
              </a:rPr>
              <a:t>Each version is a discrete bet, with a single learning goal. We do not commit to V3 until V1's free→Pro conversion proves the unit economics.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607" y="3200400"/>
            <a:ext cx="10698480" cy="54864"/>
          </a:xfrm>
          <a:prstGeom prst="rect">
            <a:avLst/>
          </a:prstGeom>
          <a:solidFill>
            <a:srgbClr val="E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0847" y="2423160"/>
            <a:ext cx="2249424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0847" y="2423160"/>
            <a:ext cx="2249424" cy="164592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5519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5519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703320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5A40"/>
                </a:solidFill>
                <a:latin typeface="Calibri"/>
              </a:rPr>
              <a:t>M0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727" y="3995928"/>
            <a:ext cx="1883664" cy="256032"/>
          </a:xfrm>
          <a:prstGeom prst="roundRect">
            <a:avLst>
              <a:gd name="adj" fmla="val 45000"/>
            </a:avLst>
          </a:prstGeom>
          <a:solidFill>
            <a:srgbClr val="D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727" y="3995928"/>
            <a:ext cx="18836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5803D"/>
                </a:solidFill>
                <a:latin typeface="Calibri"/>
              </a:rPr>
              <a:t>WE ARE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727" y="4343400"/>
            <a:ext cx="1883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Streamlit app, 17-clause catalog, redline, Q&amp;A, exports. Offline-capable.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3727" y="5303520"/>
            <a:ext cx="1883664" cy="6400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727" y="5303520"/>
            <a:ext cx="18836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5A6A62"/>
                </a:solidFill>
                <a:latin typeface="Calibri"/>
              </a:rPr>
              <a:t>LEARNING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" y="5513832"/>
            <a:ext cx="1700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43029"/>
                </a:solidFill>
                <a:latin typeface="Calibri"/>
              </a:rPr>
              <a:t>Does the pipeline produce useful output on real freelance contracts?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5991" y="2423160"/>
            <a:ext cx="2249424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75991" y="2423160"/>
            <a:ext cx="2249424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80663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0663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8871" y="3703320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M1–3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8871" y="4050792"/>
            <a:ext cx="1883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Supabase auth, Stripe billing, contract history, multilingual scaffold.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8871" y="5303520"/>
            <a:ext cx="1883664" cy="6400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8871" y="5303520"/>
            <a:ext cx="18836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5A6A62"/>
                </a:solidFill>
                <a:latin typeface="Calibri"/>
              </a:rPr>
              <a:t>LEARNING 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0311" y="5513832"/>
            <a:ext cx="1700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43029"/>
                </a:solidFill>
                <a:latin typeface="Calibri"/>
              </a:rPr>
              <a:t>What's the free→Pro conversion rate?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71135" y="2423160"/>
            <a:ext cx="2249424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71135" y="2423160"/>
            <a:ext cx="2249424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5807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5807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4015" y="3703320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Calibri"/>
              </a:rPr>
              <a:t>M3–6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4015" y="4050792"/>
            <a:ext cx="1883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Browser extension (Gmail contract scan), mobile-responsive, contract diff.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54015" y="5303520"/>
            <a:ext cx="1883664" cy="6400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4015" y="5303520"/>
            <a:ext cx="18836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5A6A62"/>
                </a:solidFill>
                <a:latin typeface="Calibri"/>
              </a:rPr>
              <a:t>LEARNING 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5455" y="5513832"/>
            <a:ext cx="1700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43029"/>
                </a:solidFill>
                <a:latin typeface="Calibri"/>
              </a:rPr>
              <a:t>Where do freelancers actually encounter contracts?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6279" y="2423160"/>
            <a:ext cx="2249424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6279" y="2423160"/>
            <a:ext cx="2249424" cy="1645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70951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0951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9159" y="3703320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5803D"/>
                </a:solidFill>
                <a:latin typeface="Calibri"/>
              </a:rPr>
              <a:t>M6–12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9159" y="4050792"/>
            <a:ext cx="1883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FastAPI service, multi-tenant infra, marketplace API for Upwork / Fiverr.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49159" y="5303520"/>
            <a:ext cx="1883664" cy="6400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49159" y="5303520"/>
            <a:ext cx="18836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5A6A62"/>
                </a:solidFill>
                <a:latin typeface="Calibri"/>
              </a:rPr>
              <a:t>LEARNING GOAL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0599" y="5513832"/>
            <a:ext cx="1700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43029"/>
                </a:solidFill>
                <a:latin typeface="Calibri"/>
              </a:rPr>
              <a:t>Can we sign a marketplace partner?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61423" y="2423160"/>
            <a:ext cx="2249424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61423" y="2423160"/>
            <a:ext cx="2249424" cy="164592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66095" y="2926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66095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4303" y="3703320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2A20"/>
                </a:solidFill>
                <a:latin typeface="Calibri"/>
              </a:rPr>
              <a:t>M12+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44303" y="4050792"/>
            <a:ext cx="1883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43029"/>
                </a:solidFill>
                <a:latin typeface="Calibri"/>
              </a:rPr>
              <a:t>Enterprise SSO + audit logs, fine-tuned classifier on CUAD, Urdu + Arabic catalogs.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44303" y="5303520"/>
            <a:ext cx="1883664" cy="640080"/>
          </a:xfrm>
          <a:prstGeom prst="roundRect">
            <a:avLst>
              <a:gd name="adj" fmla="val 7000"/>
            </a:avLst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4303" y="5303520"/>
            <a:ext cx="18836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5A6A62"/>
                </a:solidFill>
                <a:latin typeface="Calibri"/>
              </a:rPr>
              <a:t>LEARNING GOAL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35743" y="5513832"/>
            <a:ext cx="1700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43029"/>
                </a:solidFill>
                <a:latin typeface="Calibri"/>
              </a:rPr>
              <a:t>How does the learned classifier compare to the rule-based catalog?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73152" cy="64008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STACK, LIMITS,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D18"/>
                </a:solidFill>
                <a:latin typeface="Cambria"/>
              </a:rPr>
              <a:t>What's in the box — and what we'd build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697" y="16459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7697" y="1645920"/>
            <a:ext cx="3749039" cy="109728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017" y="187452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01 /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017" y="214884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Reproducible, lightweight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017" y="2743200"/>
            <a:ext cx="3291839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Streamlit · interactive UI with custom CSS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scikit-learn · TF-IDF + cosine similarity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Plotly · gauge, donut, radar, calibration chart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pdfplumber + python-docx · document parsing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2F5A40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Groq · optional LLM polish (works offline by default)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1328" y="16459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1328" y="1645920"/>
            <a:ext cx="3749039" cy="1097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8" y="187452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02 / KNOWN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8" y="214884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Honest weak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8" y="2743200"/>
            <a:ext cx="3291839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Hand-curated catalog → recall capped to known clauses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English only (no Urdu / Arabic support yet)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Section splitter assumes paragraph-block formatting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False positives possible when fair text mentions risky terms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2410C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No version-comparison or diff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959" y="16459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4959" y="1645920"/>
            <a:ext cx="3749039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9279" y="187452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03 / WHAT'S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9279" y="2148840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D18"/>
                </a:solidFill>
                <a:latin typeface="Cambria"/>
              </a:rPr>
              <a:t>If we kept building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9279" y="2743200"/>
            <a:ext cx="3291839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Sentence-Transformer classifier trained on CUAD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Inline contract diff between two versions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Multi-language support (Urdu + Arabic clauses)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Real PDF export with WeasyPrint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●  </a:t>
            </a:r>
            <a:r>
              <a:rPr sz="1100">
                <a:solidFill>
                  <a:srgbClr val="243029"/>
                </a:solidFill>
                <a:latin typeface="Calibri"/>
              </a:rPr>
              <a:t>Cloud deployment + share-link mode for clients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ClearClause · NLP Final Project · Spring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62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F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F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B8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121916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6F5EC"/>
                </a:solidFill>
                <a:latin typeface="Calibri"/>
              </a:rPr>
              <a:t>LIVE DEMO ·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65760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6F5EC"/>
                </a:solidFill>
                <a:latin typeface="Calibri"/>
              </a:rPr>
              <a:t>Open the Streamlit app and walk the examiner through the high-risk demo,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977639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6F5EC"/>
                </a:solidFill>
                <a:latin typeface="Calibri"/>
              </a:rPr>
              <a:t>then switch to the friendly demo to show the gauge in green.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663440"/>
            <a:ext cx="758952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800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6A62"/>
                </a:solidFill>
                <a:latin typeface="Calibri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07492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2A20"/>
                </a:solidFill>
                <a:latin typeface="Cambria"/>
              </a:rPr>
              <a:t>github.com/ShehrozRafaqat/ClearClause-NLP-Project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A62"/>
                </a:solidFill>
                <a:latin typeface="Calibri"/>
              </a:rPr>
              <a:t>Shehroz Ali (MSDSF25M012) · Arslan Ahmad (MSDSF25M001)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897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F5A40"/>
                </a:solidFill>
                <a:latin typeface="Calibri"/>
              </a:rPr>
              <a:t>Streamlit · scikit-learn · Plotly · optional Groq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