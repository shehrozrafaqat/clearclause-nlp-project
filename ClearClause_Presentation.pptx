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A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023360"/>
          </a:xfrm>
          <a:prstGeom prst="rect">
            <a:avLst/>
          </a:prstGeom>
          <a:solidFill>
            <a:srgbClr val="1F3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828800"/>
          </a:xfrm>
          <a:prstGeom prst="rect">
            <a:avLst/>
          </a:prstGeom>
          <a:solidFill>
            <a:srgbClr val="2F5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828800"/>
            <a:ext cx="12191695" cy="54864"/>
          </a:xfrm>
          <a:prstGeom prst="rect">
            <a:avLst/>
          </a:prstGeom>
          <a:solidFill>
            <a:srgbClr val="B88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82296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6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868680"/>
            <a:ext cx="777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 i="0">
                <a:solidFill>
                  <a:srgbClr val="142A20"/>
                </a:solidFill>
                <a:latin typeface="Cambria"/>
              </a:rPr>
              <a:t>CC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868680"/>
            <a:ext cx="7315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F6F5EC"/>
                </a:solidFill>
                <a:latin typeface="Calibri"/>
              </a:rPr>
              <a:t>AI Contract Risk Analyzer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1143000"/>
            <a:ext cx="91440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1" i="0">
                <a:solidFill>
                  <a:srgbClr val="FFFFFF"/>
                </a:solidFill>
                <a:latin typeface="Cambria"/>
              </a:rPr>
              <a:t>ClearClause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2402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6F5EC"/>
                </a:solidFill>
                <a:latin typeface="Calibri"/>
              </a:rPr>
              <a:t>TURNING DENSE LEGAL TEXT INTO 60-SECOND DECISIONS.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697480"/>
            <a:ext cx="100584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F6F5EC"/>
                </a:solidFill>
                <a:latin typeface="Calibri"/>
              </a:rPr>
              <a:t>A hybrid NLP system that segments freelance and professional contracts,</a:t>
            </a:r>
          </a:p>
          <a:p>
            <a:pPr algn="l">
              <a:lnSpc>
                <a:spcPct val="140000"/>
              </a:lnSpc>
            </a:pPr>
            <a:r>
              <a:rPr sz="1500" b="0">
                <a:solidFill>
                  <a:srgbClr val="F6F5EC"/>
                </a:solidFill>
                <a:latin typeface="Calibri"/>
              </a:rPr>
              <a:t>detects 17 categories of risky clauses, scores the document, benchmarks</a:t>
            </a:r>
          </a:p>
          <a:p>
            <a:pPr algn="l">
              <a:lnSpc>
                <a:spcPct val="140000"/>
              </a:lnSpc>
            </a:pPr>
            <a:r>
              <a:rPr sz="1500" b="0">
                <a:solidFill>
                  <a:srgbClr val="F6F5EC"/>
                </a:solidFill>
                <a:latin typeface="Calibri"/>
              </a:rPr>
              <a:t>each clause against a fair-contract standard, and coaches the user</a:t>
            </a:r>
          </a:p>
          <a:p>
            <a:pPr algn="l">
              <a:lnSpc>
                <a:spcPct val="140000"/>
              </a:lnSpc>
            </a:pPr>
            <a:r>
              <a:rPr sz="1500" b="0">
                <a:solidFill>
                  <a:srgbClr val="F6F5EC"/>
                </a:solidFill>
                <a:latin typeface="Calibri"/>
              </a:rPr>
              <a:t>through the specific negotiation moves to make before signing.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617720"/>
            <a:ext cx="10515600" cy="16916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480060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5A6A62"/>
                </a:solidFill>
                <a:latin typeface="Calibri"/>
              </a:rPr>
              <a:t>PROJECT GROUP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512064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F1D18"/>
                </a:solidFill>
                <a:latin typeface="Cambria"/>
              </a:rPr>
              <a:t>Shehroz Ali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557784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A6A62"/>
                </a:solidFill>
                <a:latin typeface="Calibri"/>
              </a:rPr>
              <a:t>Roll No · MSDSF25M012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97880" y="5120640"/>
            <a:ext cx="8000" cy="914400"/>
          </a:xfrm>
          <a:prstGeom prst="rect">
            <a:avLst/>
          </a:prstGeom>
          <a:solidFill>
            <a:srgbClr val="E3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72200" y="512064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F1D18"/>
                </a:solidFill>
                <a:latin typeface="Cambria"/>
              </a:rPr>
              <a:t>Arslan Ahmad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557784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5A6A62"/>
                </a:solidFill>
                <a:latin typeface="Calibri"/>
              </a:rPr>
              <a:t>Roll No · MSDSF25M001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59436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F5A40"/>
                </a:solidFill>
                <a:latin typeface="Calibri"/>
              </a:rPr>
              <a:t>MS Data Science · Natural Language Processing · Spring 2026 Final Project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F6F5EC"/>
                </a:solidFill>
                <a:latin typeface="Calibri"/>
              </a:rPr>
              <a:t>github.com/ShehrozRafaqat/ClearClause-NLP-Project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42A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F6F5EC"/>
                </a:solidFill>
                <a:latin typeface="Calibri"/>
              </a:rPr>
              <a:t>github.com/ShehrozRafaqat/ClearClause-NLP-Project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502920"/>
            <a:ext cx="73152" cy="64008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5A6A62"/>
                </a:solidFill>
                <a:latin typeface="Calibri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0F1D18"/>
                </a:solidFill>
                <a:latin typeface="Cambria"/>
              </a:rPr>
              <a:t>Contracts are written for lawyers, not freelancers.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10972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43029"/>
                </a:solidFill>
                <a:latin typeface="Calibri"/>
              </a:rPr>
              <a:t>Most freelancers and small businesses sign multi-page agreements without fully understanding what they're agreeing to. Risky clauses around IP, termination, liability and exclusivity routinely cost the smaller party more than the project fee itself.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147" y="3108960"/>
            <a:ext cx="3611880" cy="21945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3E6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95147" y="3108960"/>
            <a:ext cx="73152" cy="219456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9467" y="3383280"/>
            <a:ext cx="3246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C2410C"/>
                </a:solidFill>
                <a:latin typeface="Cambria"/>
              </a:rPr>
              <a:t>~4,800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9467" y="4434840"/>
            <a:ext cx="3246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43029"/>
                </a:solidFill>
                <a:latin typeface="Calibri"/>
              </a:rPr>
              <a:t>words in the typical freelance contract analysed by ClearClause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9907" y="3108960"/>
            <a:ext cx="3611880" cy="21945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3E6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9907" y="3108960"/>
            <a:ext cx="73152" cy="219456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64227" y="3383280"/>
            <a:ext cx="3246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B45309"/>
                </a:solidFill>
                <a:latin typeface="Cambria"/>
              </a:rPr>
              <a:t>17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64227" y="4434840"/>
            <a:ext cx="3246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43029"/>
                </a:solidFill>
                <a:latin typeface="Calibri"/>
              </a:rPr>
              <a:t>clause categories tracked, from IP and indemnity to auto-renewal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84667" y="3108960"/>
            <a:ext cx="3611880" cy="21945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3E6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84667" y="3108960"/>
            <a:ext cx="73152" cy="2194560"/>
          </a:xfrm>
          <a:prstGeom prst="rect">
            <a:avLst/>
          </a:prstGeom>
          <a:solidFill>
            <a:srgbClr val="2F5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58987" y="3383280"/>
            <a:ext cx="3246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2F5A40"/>
                </a:solidFill>
                <a:latin typeface="Cambria"/>
              </a:rPr>
              <a:t>96/100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8987" y="4434840"/>
            <a:ext cx="3246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43029"/>
                </a:solidFill>
                <a:latin typeface="Calibri"/>
              </a:rPr>
              <a:t>max risk score the highest-risk demo earns before suggested edits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532120"/>
            <a:ext cx="10972800" cy="822960"/>
          </a:xfrm>
          <a:prstGeom prst="roundRect">
            <a:avLst>
              <a:gd name="adj" fmla="val 7000"/>
            </a:avLst>
          </a:prstGeom>
          <a:solidFill>
            <a:srgbClr val="F6F5EC"/>
          </a:solidFill>
          <a:ln w="9525">
            <a:solidFill>
              <a:srgbClr val="E3E6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5577840"/>
            <a:ext cx="106070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243029"/>
                </a:solidFill>
                <a:latin typeface="Calibri"/>
              </a:rPr>
              <a:t>“Even when the words are clear, the consequences are not. A small wording change in section 9 is often the difference between getting paid in 15 days and waiting 90.”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7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6601968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A6A62"/>
                </a:solidFill>
                <a:latin typeface="Calibri"/>
              </a:rPr>
              <a:t>ClearClause · NLP Final Project · Spring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6601968"/>
            <a:ext cx="1463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A6A62"/>
                </a:solidFill>
                <a:latin typeface="Calibri"/>
              </a:rPr>
              <a:t>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502920"/>
            <a:ext cx="73152" cy="640080"/>
          </a:xfrm>
          <a:prstGeom prst="rect">
            <a:avLst/>
          </a:prstGeom>
          <a:solidFill>
            <a:srgbClr val="2F5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5A6A62"/>
                </a:solidFill>
                <a:latin typeface="Calibri"/>
              </a:rPr>
              <a:t>OUR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0F1D18"/>
                </a:solidFill>
                <a:latin typeface="Cambria"/>
              </a:rPr>
              <a:t>ClearClause — a hybrid-NLP contract review copilot.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43029"/>
                </a:solidFill>
                <a:latin typeface="Calibri"/>
              </a:rPr>
              <a:t>Upload a contract; ClearClause segments, classifies, scores, explains, benchmarks, answers questions, and exports — entirely offline. An optional Groq layer polishes wording.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3999" y="2514600"/>
            <a:ext cx="2670048" cy="3291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3E6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3999" y="2514600"/>
            <a:ext cx="2670048" cy="164592"/>
          </a:xfrm>
          <a:prstGeom prst="rect">
            <a:avLst/>
          </a:prstGeom>
          <a:solidFill>
            <a:srgbClr val="2F5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8319" y="2834640"/>
            <a:ext cx="221284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F1D18"/>
                </a:solidFill>
                <a:latin typeface="Cambria"/>
              </a:rPr>
              <a:t>Detect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8319" y="3383280"/>
            <a:ext cx="2212848" cy="233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243029"/>
                </a:solidFill>
                <a:latin typeface="Calibri"/>
              </a:rPr>
              <a:t>17 clause categories</a:t>
            </a:r>
          </a:p>
          <a:p>
            <a:pPr algn="l">
              <a:lnSpc>
                <a:spcPct val="135000"/>
              </a:lnSpc>
            </a:pPr>
            <a:r>
              <a:rPr sz="1200" b="0">
                <a:solidFill>
                  <a:srgbClr val="243029"/>
                </a:solidFill>
                <a:latin typeface="Calibri"/>
              </a:rPr>
              <a:t>Regex catalog + TF-IDF semantic similarity</a:t>
            </a:r>
          </a:p>
          <a:p>
            <a:pPr algn="l">
              <a:lnSpc>
                <a:spcPct val="135000"/>
              </a:lnSpc>
            </a:pPr>
            <a:r>
              <a:rPr sz="1200" b="0">
                <a:solidFill>
                  <a:srgbClr val="243029"/>
                </a:solidFill>
                <a:latin typeface="Calibri"/>
              </a:rPr>
              <a:t>Every match is traceable to evidence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25215" y="2514600"/>
            <a:ext cx="2670048" cy="3291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3E6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25215" y="2514600"/>
            <a:ext cx="2670048" cy="164592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99535" y="2834640"/>
            <a:ext cx="221284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F1D18"/>
                </a:solidFill>
                <a:latin typeface="Cambria"/>
              </a:rPr>
              <a:t>Score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99535" y="3383280"/>
            <a:ext cx="2212848" cy="233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243029"/>
                </a:solidFill>
                <a:latin typeface="Calibri"/>
              </a:rPr>
              <a:t>0–100 risk score with verdict card</a:t>
            </a:r>
          </a:p>
          <a:p>
            <a:pPr algn="l">
              <a:lnSpc>
                <a:spcPct val="135000"/>
              </a:lnSpc>
            </a:pPr>
            <a:r>
              <a:rPr sz="1200" b="0">
                <a:solidFill>
                  <a:srgbClr val="243029"/>
                </a:solidFill>
                <a:latin typeface="Calibri"/>
              </a:rPr>
              <a:t>Severity adjustment via red / green flags</a:t>
            </a:r>
          </a:p>
          <a:p>
            <a:pPr algn="l">
              <a:lnSpc>
                <a:spcPct val="135000"/>
              </a:lnSpc>
            </a:pPr>
            <a:r>
              <a:rPr sz="1200" b="0">
                <a:solidFill>
                  <a:srgbClr val="243029"/>
                </a:solidFill>
                <a:latin typeface="Calibri"/>
              </a:rPr>
              <a:t>Exponential curve avoids saturation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6431" y="2514600"/>
            <a:ext cx="2670048" cy="3291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3E6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96431" y="2514600"/>
            <a:ext cx="2670048" cy="164592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70751" y="2834640"/>
            <a:ext cx="221284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F1D18"/>
                </a:solidFill>
                <a:latin typeface="Cambria"/>
              </a:rPr>
              <a:t>Coach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0751" y="3383280"/>
            <a:ext cx="2212848" cy="233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243029"/>
                </a:solidFill>
                <a:latin typeface="Calibri"/>
              </a:rPr>
              <a:t>Priority-sorted negotiation checklist</a:t>
            </a:r>
          </a:p>
          <a:p>
            <a:pPr algn="l">
              <a:lnSpc>
                <a:spcPct val="135000"/>
              </a:lnSpc>
            </a:pPr>
            <a:r>
              <a:rPr sz="1200" b="0">
                <a:solidFill>
                  <a:srgbClr val="243029"/>
                </a:solidFill>
                <a:latin typeface="Calibri"/>
              </a:rPr>
              <a:t>Fair-contract benchmark per clause</a:t>
            </a:r>
          </a:p>
          <a:p>
            <a:pPr algn="l">
              <a:lnSpc>
                <a:spcPct val="135000"/>
              </a:lnSpc>
            </a:pPr>
            <a:r>
              <a:rPr sz="1200" b="0">
                <a:solidFill>
                  <a:srgbClr val="243029"/>
                </a:solidFill>
                <a:latin typeface="Calibri"/>
              </a:rPr>
              <a:t>Suggested discovery questions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67647" y="2514600"/>
            <a:ext cx="2670048" cy="3291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3E6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067647" y="2514600"/>
            <a:ext cx="2670048" cy="164592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41967" y="2834640"/>
            <a:ext cx="221284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F1D18"/>
                </a:solidFill>
                <a:latin typeface="Cambria"/>
              </a:rPr>
              <a:t>Export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41967" y="3383280"/>
            <a:ext cx="2212848" cy="233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243029"/>
                </a:solidFill>
                <a:latin typeface="Calibri"/>
              </a:rPr>
              <a:t>Presentation-quality HTML report</a:t>
            </a:r>
          </a:p>
          <a:p>
            <a:pPr algn="l">
              <a:lnSpc>
                <a:spcPct val="135000"/>
              </a:lnSpc>
            </a:pPr>
            <a:r>
              <a:rPr sz="1200" b="0">
                <a:solidFill>
                  <a:srgbClr val="243029"/>
                </a:solidFill>
                <a:latin typeface="Calibri"/>
              </a:rPr>
              <a:t>Clause CSV + Markdown pack</a:t>
            </a:r>
          </a:p>
          <a:p>
            <a:pPr algn="l">
              <a:lnSpc>
                <a:spcPct val="135000"/>
              </a:lnSpc>
            </a:pPr>
            <a:r>
              <a:rPr sz="1200" b="0">
                <a:solidFill>
                  <a:srgbClr val="243029"/>
                </a:solidFill>
                <a:latin typeface="Calibri"/>
              </a:rPr>
              <a:t>Document-grounded Q&amp;A chat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7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6601968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A6A62"/>
                </a:solidFill>
                <a:latin typeface="Calibri"/>
              </a:rPr>
              <a:t>ClearClause · NLP Final Project · Spring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41280" y="6601968"/>
            <a:ext cx="1463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A6A62"/>
                </a:solidFill>
                <a:latin typeface="Calibri"/>
              </a:rPr>
              <a:t>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502920"/>
            <a:ext cx="73152" cy="640080"/>
          </a:xfrm>
          <a:prstGeom prst="rect">
            <a:avLst/>
          </a:prstGeom>
          <a:solidFill>
            <a:srgbClr val="2F5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5A6A62"/>
                </a:solidFill>
                <a:latin typeface="Calibri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0F1D18"/>
                </a:solidFill>
                <a:latin typeface="Cambria"/>
              </a:rPr>
              <a:t>The NLP pipeline at a glance.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243029"/>
                </a:solidFill>
                <a:latin typeface="Calibri"/>
              </a:rPr>
              <a:t>Each step has a single responsibility and a clean dataclass interface, so the whole pipeline is explainable end-to-end.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07697" y="2103120"/>
            <a:ext cx="3749039" cy="187451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3E6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82017" y="2377440"/>
            <a:ext cx="502920" cy="502920"/>
          </a:xfrm>
          <a:prstGeom prst="roundRect">
            <a:avLst>
              <a:gd name="adj" fmla="val 40000"/>
            </a:avLst>
          </a:prstGeom>
          <a:solidFill>
            <a:srgbClr val="2F5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82017" y="2395728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22097" y="2377440"/>
            <a:ext cx="2651759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F1D18"/>
                </a:solidFill>
                <a:latin typeface="Cambria"/>
              </a:rPr>
              <a:t>Parse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2017" y="3017520"/>
            <a:ext cx="3291839" cy="9143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43029"/>
                </a:solidFill>
                <a:latin typeface="Calibri"/>
              </a:rPr>
              <a:t>TXT / PDF / DOCX → cleaned text + paragraphs.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21328" y="2103120"/>
            <a:ext cx="3749039" cy="187451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3E6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95648" y="2377440"/>
            <a:ext cx="502920" cy="502920"/>
          </a:xfrm>
          <a:prstGeom prst="roundRect">
            <a:avLst>
              <a:gd name="adj" fmla="val 40000"/>
            </a:avLst>
          </a:prstGeom>
          <a:solidFill>
            <a:srgbClr val="2F5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95648" y="2395728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35728" y="2377440"/>
            <a:ext cx="2651759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F1D18"/>
                </a:solidFill>
                <a:latin typeface="Cambria"/>
              </a:rPr>
              <a:t>Segment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95648" y="3017520"/>
            <a:ext cx="3291839" cy="9143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43029"/>
                </a:solidFill>
                <a:latin typeface="Calibri"/>
              </a:rPr>
              <a:t>Block-level section splitter (\Z-anchored regex).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4959" y="2103120"/>
            <a:ext cx="3749039" cy="187451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3E6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409279" y="2377440"/>
            <a:ext cx="502920" cy="502920"/>
          </a:xfrm>
          <a:prstGeom prst="roundRect">
            <a:avLst>
              <a:gd name="adj" fmla="val 4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09279" y="2395728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9359" y="2377440"/>
            <a:ext cx="2651759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F1D18"/>
                </a:solidFill>
                <a:latin typeface="Cambria"/>
              </a:rPr>
              <a:t>Extract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09279" y="3017520"/>
            <a:ext cx="3291839" cy="9143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43029"/>
                </a:solidFill>
                <a:latin typeface="Calibri"/>
              </a:rPr>
              <a:t>Regex patterns + TF-IDF semantic similarity + flag counts → confidence.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07697" y="4178807"/>
            <a:ext cx="3749039" cy="187451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3E6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82017" y="4453127"/>
            <a:ext cx="502920" cy="502920"/>
          </a:xfrm>
          <a:prstGeom prst="roundRect">
            <a:avLst>
              <a:gd name="adj" fmla="val 4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2017" y="4471415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22097" y="4453127"/>
            <a:ext cx="2651759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F1D18"/>
                </a:solidFill>
                <a:latin typeface="Cambria"/>
              </a:rPr>
              <a:t>Score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2017" y="5093207"/>
            <a:ext cx="3291839" cy="9143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43029"/>
                </a:solidFill>
                <a:latin typeface="Calibri"/>
              </a:rPr>
              <a:t>Confidence-weighted weights, severity bonus/discount, exponential curve.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21328" y="4178807"/>
            <a:ext cx="3749039" cy="187451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3E6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495648" y="4453127"/>
            <a:ext cx="502920" cy="502920"/>
          </a:xfrm>
          <a:prstGeom prst="roundRect">
            <a:avLst>
              <a:gd name="adj" fmla="val 4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95648" y="4471415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35728" y="4453127"/>
            <a:ext cx="2651759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F1D18"/>
                </a:solidFill>
                <a:latin typeface="Cambria"/>
              </a:rPr>
              <a:t>Benchmark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95648" y="5093207"/>
            <a:ext cx="3291839" cy="9143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43029"/>
                </a:solidFill>
                <a:latin typeface="Calibri"/>
              </a:rPr>
              <a:t>Compare each clause to fair-standard text; flag missing core clauses.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34959" y="4178807"/>
            <a:ext cx="3749039" cy="187451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3E6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409279" y="4453127"/>
            <a:ext cx="502920" cy="502920"/>
          </a:xfrm>
          <a:prstGeom prst="roundRect">
            <a:avLst>
              <a:gd name="adj" fmla="val 40000"/>
            </a:avLst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09279" y="4471415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Cambria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49359" y="4453127"/>
            <a:ext cx="2651759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F1D18"/>
                </a:solidFill>
                <a:latin typeface="Cambria"/>
              </a:rPr>
              <a:t>Coach + Q&amp;A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09279" y="5093207"/>
            <a:ext cx="3291839" cy="9143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43029"/>
                </a:solidFill>
                <a:latin typeface="Calibri"/>
              </a:rPr>
              <a:t>Priority checklist, suggested questions, TF-IDF retrieval Q&amp;A.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0080" y="6080760"/>
            <a:ext cx="10972800" cy="502920"/>
          </a:xfrm>
          <a:prstGeom prst="roundRect">
            <a:avLst>
              <a:gd name="adj" fmla="val 7000"/>
            </a:avLst>
          </a:prstGeom>
          <a:solidFill>
            <a:srgbClr val="F6F5EC"/>
          </a:solidFill>
          <a:ln w="9525">
            <a:solidFill>
              <a:srgbClr val="E3E6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2960" y="6126480"/>
            <a:ext cx="106070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42A20"/>
                </a:solidFill>
                <a:latin typeface="Calibri"/>
              </a:rPr>
              <a:t>ParsedDocument  →  Section[]  →  ClauseFinding[]  →  RiskProfile  →  AnalysisResult  →  HTML / CSV / Markdown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7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6601968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A6A62"/>
                </a:solidFill>
                <a:latin typeface="Calibri"/>
              </a:rPr>
              <a:t>ClearClause · NLP Final Project · Spring 2026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41280" y="6601968"/>
            <a:ext cx="1463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A6A62"/>
                </a:solidFill>
                <a:latin typeface="Calibri"/>
              </a:rPr>
              <a:t>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502920"/>
            <a:ext cx="73152" cy="640080"/>
          </a:xfrm>
          <a:prstGeom prst="rect">
            <a:avLst/>
          </a:prstGeom>
          <a:solidFill>
            <a:srgbClr val="2F5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5A6A62"/>
                </a:solidFill>
                <a:latin typeface="Calibri"/>
              </a:rPr>
              <a:t>THE CLAUSE CATALOG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0F1D18"/>
                </a:solidFill>
                <a:latin typeface="Cambria"/>
              </a:rPr>
              <a:t>17 clause categories grouped into 5 risk dimensions.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9427" y="1691640"/>
            <a:ext cx="5532120" cy="1508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3E6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49427" y="1691640"/>
            <a:ext cx="91440" cy="150876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3747" y="1856232"/>
            <a:ext cx="5074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F1D18"/>
                </a:solidFill>
                <a:latin typeface="Cambria"/>
              </a:rPr>
              <a:t>Money &amp; Liability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3747" y="2286000"/>
            <a:ext cx="1234440" cy="365760"/>
          </a:xfrm>
          <a:prstGeom prst="roundRect">
            <a:avLst>
              <a:gd name="adj" fmla="val 45000"/>
            </a:avLst>
          </a:prstGeom>
          <a:solidFill>
            <a:srgbClr val="FE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3747" y="2286000"/>
            <a:ext cx="1234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C2410C"/>
                </a:solidFill>
                <a:latin typeface="Calibri"/>
              </a:rPr>
              <a:t>Payment Terms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49627" y="2286000"/>
            <a:ext cx="1508760" cy="365760"/>
          </a:xfrm>
          <a:prstGeom prst="roundRect">
            <a:avLst>
              <a:gd name="adj" fmla="val 45000"/>
            </a:avLst>
          </a:prstGeom>
          <a:solidFill>
            <a:srgbClr val="FE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49627" y="2286000"/>
            <a:ext cx="1508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C2410C"/>
                </a:solidFill>
                <a:latin typeface="Calibri"/>
              </a:rPr>
              <a:t>Unlimited Liability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49827" y="2286000"/>
            <a:ext cx="1325880" cy="365760"/>
          </a:xfrm>
          <a:prstGeom prst="roundRect">
            <a:avLst>
              <a:gd name="adj" fmla="val 45000"/>
            </a:avLst>
          </a:prstGeom>
          <a:solidFill>
            <a:srgbClr val="FE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49827" y="2286000"/>
            <a:ext cx="13258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C2410C"/>
                </a:solidFill>
                <a:latin typeface="Calibri"/>
              </a:rPr>
              <a:t>Indemnification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3747" y="2743200"/>
            <a:ext cx="1691640" cy="365760"/>
          </a:xfrm>
          <a:prstGeom prst="roundRect">
            <a:avLst>
              <a:gd name="adj" fmla="val 45000"/>
            </a:avLst>
          </a:prstGeom>
          <a:solidFill>
            <a:srgbClr val="FE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747" y="2743200"/>
            <a:ext cx="1691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C2410C"/>
                </a:solidFill>
                <a:latin typeface="Calibri"/>
              </a:rPr>
              <a:t>Limitation of Liability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0147" y="1691640"/>
            <a:ext cx="5532120" cy="1508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3E6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0147" y="1691640"/>
            <a:ext cx="91440" cy="150876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84467" y="1856232"/>
            <a:ext cx="5074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F1D18"/>
                </a:solidFill>
                <a:latin typeface="Cambria"/>
              </a:rPr>
              <a:t>Ownership &amp; IP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84467" y="2286000"/>
            <a:ext cx="1920240" cy="365760"/>
          </a:xfrm>
          <a:prstGeom prst="roundRect">
            <a:avLst>
              <a:gd name="adj" fmla="val 45000"/>
            </a:avLst>
          </a:prstGeom>
          <a:solidFill>
            <a:srgbClr val="FDF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84467" y="2286000"/>
            <a:ext cx="1920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B45309"/>
                </a:solidFill>
                <a:latin typeface="Calibri"/>
              </a:rPr>
              <a:t>IP Ownership / Work-for-Hire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96147" y="2286000"/>
            <a:ext cx="1600200" cy="365760"/>
          </a:xfrm>
          <a:prstGeom prst="roundRect">
            <a:avLst>
              <a:gd name="adj" fmla="val 45000"/>
            </a:avLst>
          </a:prstGeom>
          <a:solidFill>
            <a:srgbClr val="FDF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96147" y="2286000"/>
            <a:ext cx="1600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B45309"/>
                </a:solidFill>
                <a:latin typeface="Calibri"/>
              </a:rPr>
              <a:t>Confidentiality / NDA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84467" y="2743200"/>
            <a:ext cx="1691640" cy="365760"/>
          </a:xfrm>
          <a:prstGeom prst="roundRect">
            <a:avLst>
              <a:gd name="adj" fmla="val 45000"/>
            </a:avLst>
          </a:prstGeom>
          <a:solidFill>
            <a:srgbClr val="FDF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4467" y="2743200"/>
            <a:ext cx="1691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B45309"/>
                </a:solidFill>
                <a:latin typeface="Calibri"/>
              </a:rPr>
              <a:t>Data Privacy / Security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9427" y="3337560"/>
            <a:ext cx="5532120" cy="1508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3E6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49427" y="3337560"/>
            <a:ext cx="91440" cy="1508760"/>
          </a:xfrm>
          <a:prstGeom prst="rect">
            <a:avLst/>
          </a:prstGeom>
          <a:solidFill>
            <a:srgbClr val="2F5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3747" y="3502152"/>
            <a:ext cx="5074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F1D18"/>
                </a:solidFill>
                <a:latin typeface="Cambria"/>
              </a:rPr>
              <a:t>Termination &amp; Renewal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23747" y="3931920"/>
            <a:ext cx="1645920" cy="365760"/>
          </a:xfrm>
          <a:prstGeom prst="roundRect">
            <a:avLst>
              <a:gd name="adj" fmla="val 45000"/>
            </a:avLst>
          </a:prstGeom>
          <a:solidFill>
            <a:srgbClr val="D6F0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3747" y="3931920"/>
            <a:ext cx="16459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F5A40"/>
                </a:solidFill>
                <a:latin typeface="Calibri"/>
              </a:rPr>
              <a:t>Unilateral Termination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461107" y="3931920"/>
            <a:ext cx="1417320" cy="365760"/>
          </a:xfrm>
          <a:prstGeom prst="roundRect">
            <a:avLst>
              <a:gd name="adj" fmla="val 45000"/>
            </a:avLst>
          </a:prstGeom>
          <a:solidFill>
            <a:srgbClr val="D6F0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461107" y="3931920"/>
            <a:ext cx="14173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F5A40"/>
                </a:solidFill>
                <a:latin typeface="Calibri"/>
              </a:rPr>
              <a:t>Automatic Renewal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10147" y="3337560"/>
            <a:ext cx="5532120" cy="1508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3E6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10147" y="3337560"/>
            <a:ext cx="91440" cy="1508760"/>
          </a:xfrm>
          <a:prstGeom prst="rect">
            <a:avLst/>
          </a:prstGeom>
          <a:solidFill>
            <a:srgbClr val="B88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4467" y="3502152"/>
            <a:ext cx="5074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F1D18"/>
                </a:solidFill>
                <a:latin typeface="Cambria"/>
              </a:rPr>
              <a:t>Work Freedom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84467" y="3931920"/>
            <a:ext cx="1143000" cy="365760"/>
          </a:xfrm>
          <a:prstGeom prst="roundRect">
            <a:avLst>
              <a:gd name="adj" fmla="val 45000"/>
            </a:avLst>
          </a:prstGeom>
          <a:solidFill>
            <a:srgbClr val="FDF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84467" y="3931920"/>
            <a:ext cx="11430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B88C3B"/>
                </a:solidFill>
                <a:latin typeface="Calibri"/>
              </a:rPr>
              <a:t>Non-Compete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718907" y="3931920"/>
            <a:ext cx="1143000" cy="365760"/>
          </a:xfrm>
          <a:prstGeom prst="roundRect">
            <a:avLst>
              <a:gd name="adj" fmla="val 45000"/>
            </a:avLst>
          </a:prstGeom>
          <a:solidFill>
            <a:srgbClr val="FDF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18907" y="3931920"/>
            <a:ext cx="11430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B88C3B"/>
                </a:solidFill>
                <a:latin typeface="Calibri"/>
              </a:rPr>
              <a:t>Exclusivity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953347" y="3931920"/>
            <a:ext cx="1371600" cy="365760"/>
          </a:xfrm>
          <a:prstGeom prst="roundRect">
            <a:avLst>
              <a:gd name="adj" fmla="val 45000"/>
            </a:avLst>
          </a:prstGeom>
          <a:solidFill>
            <a:srgbClr val="FDF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953347" y="3931920"/>
            <a:ext cx="1371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B88C3B"/>
                </a:solidFill>
                <a:latin typeface="Calibri"/>
              </a:rPr>
              <a:t>Non-Solicitation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49427" y="4983480"/>
            <a:ext cx="5532120" cy="1508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3E6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49427" y="4983480"/>
            <a:ext cx="91440" cy="150876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23747" y="5148072"/>
            <a:ext cx="5074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F1D18"/>
                </a:solidFill>
                <a:latin typeface="Cambria"/>
              </a:rPr>
              <a:t>Disputes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23747" y="5577840"/>
            <a:ext cx="1920240" cy="365760"/>
          </a:xfrm>
          <a:prstGeom prst="roundRect">
            <a:avLst>
              <a:gd name="adj" fmla="val 45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23747" y="5577840"/>
            <a:ext cx="1920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D4ED8"/>
                </a:solidFill>
                <a:latin typeface="Calibri"/>
              </a:rPr>
              <a:t>Governing Law &amp; Jurisdiction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735427" y="5577840"/>
            <a:ext cx="1828800" cy="365760"/>
          </a:xfrm>
          <a:prstGeom prst="roundRect">
            <a:avLst>
              <a:gd name="adj" fmla="val 45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735427" y="5577840"/>
            <a:ext cx="1828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D4ED8"/>
                </a:solidFill>
                <a:latin typeface="Calibri"/>
              </a:rPr>
              <a:t>Arbitration / Court Waiver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210147" y="4983480"/>
            <a:ext cx="5532120" cy="1508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3E6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210147" y="4983480"/>
            <a:ext cx="91440" cy="1508760"/>
          </a:xfrm>
          <a:prstGeom prst="rect">
            <a:avLst/>
          </a:prstGeom>
          <a:solidFill>
            <a:srgbClr val="6F8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84467" y="5148072"/>
            <a:ext cx="5074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F1D18"/>
                </a:solidFill>
                <a:latin typeface="Cambria"/>
              </a:rPr>
              <a:t>Operations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484467" y="5577840"/>
            <a:ext cx="1965960" cy="365760"/>
          </a:xfrm>
          <a:prstGeom prst="roundRect">
            <a:avLst>
              <a:gd name="adj" fmla="val 45000"/>
            </a:avLst>
          </a:prstGeom>
          <a:solidFill>
            <a:srgbClr val="D6F0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84467" y="5577840"/>
            <a:ext cx="1965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6F8D5C"/>
                </a:solidFill>
                <a:latin typeface="Calibri"/>
              </a:rPr>
              <a:t>Scope, Acceptance &amp; Revisions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541867" y="5577840"/>
            <a:ext cx="2011680" cy="365760"/>
          </a:xfrm>
          <a:prstGeom prst="roundRect">
            <a:avLst>
              <a:gd name="adj" fmla="val 45000"/>
            </a:avLst>
          </a:prstGeom>
          <a:solidFill>
            <a:srgbClr val="D6F0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541867" y="5577840"/>
            <a:ext cx="20116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6F8D5C"/>
                </a:solidFill>
                <a:latin typeface="Calibri"/>
              </a:rPr>
              <a:t>Assignment / Change of Control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484467" y="6035040"/>
            <a:ext cx="1600200" cy="365760"/>
          </a:xfrm>
          <a:prstGeom prst="roundRect">
            <a:avLst>
              <a:gd name="adj" fmla="val 45000"/>
            </a:avLst>
          </a:prstGeom>
          <a:solidFill>
            <a:srgbClr val="D6F0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84467" y="6035040"/>
            <a:ext cx="1600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6F8D5C"/>
                </a:solidFill>
                <a:latin typeface="Calibri"/>
              </a:rPr>
              <a:t>Effective Date &amp; Term</a:t>
            </a:r>
          </a:p>
        </p:txBody>
      </p:sp>
      <p:sp>
        <p:nvSpPr>
          <p:cNvPr id="58" name="Rectangle 5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7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57200" y="6601968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A6A62"/>
                </a:solidFill>
                <a:latin typeface="Calibri"/>
              </a:rPr>
              <a:t>ClearClause · NLP Final Project · Spring 2026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41280" y="6601968"/>
            <a:ext cx="1463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A6A62"/>
                </a:solidFill>
                <a:latin typeface="Calibri"/>
              </a:rPr>
              <a:t>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502920"/>
            <a:ext cx="73152" cy="640080"/>
          </a:xfrm>
          <a:prstGeom prst="rect">
            <a:avLst/>
          </a:prstGeom>
          <a:solidFill>
            <a:srgbClr val="2F5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5A6A62"/>
                </a:solidFill>
                <a:latin typeface="Calibri"/>
              </a:rPr>
              <a:t>HOW DETECTION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0F1D18"/>
                </a:solidFill>
                <a:latin typeface="Cambria"/>
              </a:rPr>
              <a:t>Three signals combine into one explainable confidence score.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00200"/>
            <a:ext cx="5394960" cy="15544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3E6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91440" cy="1554480"/>
          </a:xfrm>
          <a:prstGeom prst="rect">
            <a:avLst/>
          </a:prstGeom>
          <a:solidFill>
            <a:srgbClr val="2F5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F1D18"/>
                </a:solidFill>
                <a:latin typeface="Cambria"/>
              </a:rPr>
              <a:t>1 · Regex catalog match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03120"/>
            <a:ext cx="4937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243029"/>
                </a:solidFill>
                <a:latin typeface="Calibri"/>
              </a:rPr>
              <a:t>Hand-curated patterns and red/green flag terms per clause.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243029"/>
                </a:solidFill>
                <a:latin typeface="Calibri"/>
              </a:rPr>
              <a:t>Captures the explicit, traceable signal.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243029"/>
                </a:solidFill>
                <a:latin typeface="Calibri"/>
              </a:rPr>
              <a:t>Example: \birrevocably assigns?\b → IP Ownership.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291840"/>
            <a:ext cx="5394960" cy="15544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3E6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291840"/>
            <a:ext cx="91440" cy="155448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42900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F1D18"/>
                </a:solidFill>
                <a:latin typeface="Cambria"/>
              </a:rPr>
              <a:t>2 · TF-IDF semantic similarity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94760"/>
            <a:ext cx="4937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243029"/>
                </a:solidFill>
                <a:latin typeface="Calibri"/>
              </a:rPr>
              <a:t>Cosine similarity between each section and the rule's prototype text.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243029"/>
                </a:solidFill>
                <a:latin typeface="Calibri"/>
              </a:rPr>
              <a:t>Catches paraphrased or unusual wording the regex misses.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243029"/>
                </a:solidFill>
                <a:latin typeface="Calibri"/>
              </a:rPr>
              <a:t>Adds a continuous signal alongside binary pattern matches.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983480"/>
            <a:ext cx="5394960" cy="15544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3E6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983480"/>
            <a:ext cx="91440" cy="155448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12064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F1D18"/>
                </a:solidFill>
                <a:latin typeface="Cambria"/>
              </a:rPr>
              <a:t>3 · Red / green flag counters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486400"/>
            <a:ext cx="4937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243029"/>
                </a:solidFill>
                <a:latin typeface="Calibri"/>
              </a:rPr>
              <a:t>Red flags (e.g. 'unlimited', 'sole discretion') push severity up.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243029"/>
                </a:solidFill>
                <a:latin typeface="Calibri"/>
              </a:rPr>
              <a:t>Green/balancing flags (e.g. 'fees paid', 'mutual') pull severity down.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243029"/>
                </a:solidFill>
                <a:latin typeface="Calibri"/>
              </a:rPr>
              <a:t>Drives the per-clause severity adjustment.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0" y="1600200"/>
            <a:ext cx="5166360" cy="4937760"/>
          </a:xfrm>
          <a:prstGeom prst="roundRect">
            <a:avLst>
              <a:gd name="adj" fmla="val 7000"/>
            </a:avLst>
          </a:prstGeom>
          <a:solidFill>
            <a:srgbClr val="142A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0" y="1828800"/>
            <a:ext cx="4709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6F5EC"/>
                </a:solidFill>
                <a:latin typeface="Calibri"/>
              </a:rPr>
              <a:t>WORKED EXAMPLE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2103120"/>
            <a:ext cx="47091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Cambria"/>
              </a:rPr>
              <a:t>IP Ownership clause in the high-risk freelance demo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0" y="2606040"/>
            <a:ext cx="4617720" cy="1371600"/>
          </a:xfrm>
          <a:prstGeom prst="roundRect">
            <a:avLst>
              <a:gd name="adj" fmla="val 7000"/>
            </a:avLst>
          </a:prstGeom>
          <a:solidFill>
            <a:srgbClr val="F7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12280" y="2743200"/>
            <a:ext cx="4343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243029"/>
                </a:solidFill>
                <a:latin typeface="Calibri"/>
              </a:rPr>
              <a:t>"To the extent any work product is not work-for-hire, Contractor irrevocably assigns all right, title, and interest in such intellectual property to Client. Client shall exclusively own all deliverables."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4160520"/>
            <a:ext cx="23774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6F5EC"/>
                </a:solidFill>
                <a:latin typeface="Calibri"/>
              </a:rPr>
              <a:t>Regex pattern matches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98280" y="4160520"/>
            <a:ext cx="2194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F6F5EC"/>
                </a:solidFill>
                <a:latin typeface="Calibri"/>
              </a:rPr>
              <a:t>intellectual property · irrevocably assigns · all right, title, interest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4489704"/>
            <a:ext cx="23774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6F5EC"/>
                </a:solidFill>
                <a:latin typeface="Calibri"/>
              </a:rPr>
              <a:t>Red flag terms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98280" y="4489704"/>
            <a:ext cx="2194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F6F5EC"/>
                </a:solidFill>
                <a:latin typeface="Calibri"/>
              </a:rPr>
              <a:t>irrevocably · exclusively owned · all right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0" y="4818888"/>
            <a:ext cx="23774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6F5EC"/>
                </a:solidFill>
                <a:latin typeface="Calibri"/>
              </a:rPr>
              <a:t>Green / balancing terms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98280" y="4818888"/>
            <a:ext cx="2194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F6F5EC"/>
                </a:solidFill>
                <a:latin typeface="Calibri"/>
              </a:rPr>
              <a:t>(none)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0" y="5148072"/>
            <a:ext cx="23774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6F5EC"/>
                </a:solidFill>
                <a:latin typeface="Calibri"/>
              </a:rPr>
              <a:t>TF-IDF similarity to prototype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98280" y="5148072"/>
            <a:ext cx="2194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F6F5EC"/>
                </a:solidFill>
                <a:latin typeface="Calibri"/>
              </a:rPr>
              <a:t>0.42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5120" y="5477256"/>
            <a:ext cx="23774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6F5EC"/>
                </a:solidFill>
                <a:latin typeface="Calibri"/>
              </a:rPr>
              <a:t>Final confidence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98280" y="5477256"/>
            <a:ext cx="2194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F6F5EC"/>
                </a:solidFill>
                <a:latin typeface="Calibri"/>
              </a:rPr>
              <a:t>0.98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0" y="5806440"/>
            <a:ext cx="23774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6F5EC"/>
                </a:solidFill>
                <a:latin typeface="Calibri"/>
              </a:rPr>
              <a:t>Adjusted severity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98280" y="5806440"/>
            <a:ext cx="2194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F6F5EC"/>
                </a:solidFill>
                <a:latin typeface="Calibri"/>
              </a:rPr>
              <a:t>HIGH (no demotion — no balancing language)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7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6601968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A6A62"/>
                </a:solidFill>
                <a:latin typeface="Calibri"/>
              </a:rPr>
              <a:t>ClearClause · NLP Final Project · Spring 2026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41280" y="6601968"/>
            <a:ext cx="1463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A6A62"/>
                </a:solidFill>
                <a:latin typeface="Calibri"/>
              </a:rPr>
              <a:t>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502920"/>
            <a:ext cx="73152" cy="640080"/>
          </a:xfrm>
          <a:prstGeom prst="rect">
            <a:avLst/>
          </a:prstGeom>
          <a:solidFill>
            <a:srgbClr val="2F5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5A6A62"/>
                </a:solidFill>
                <a:latin typeface="Calibri"/>
              </a:rPr>
              <a:t>RISK SCORE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0F1D18"/>
                </a:solidFill>
                <a:latin typeface="Cambria"/>
              </a:rPr>
              <a:t>Transparent formula. No saturation at the top.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554480"/>
            <a:ext cx="5486400" cy="30175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3E6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9164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F1D18"/>
                </a:solidFill>
                <a:latin typeface="Cambria"/>
              </a:rPr>
              <a:t>Formula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03120"/>
            <a:ext cx="5029200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243029"/>
                </a:solidFill>
                <a:latin typeface="Consolas"/>
              </a:rPr>
              <a:t>contribution = (weight + red_bonus − green_discount) × conf_factor</a:t>
            </a:r>
          </a:p>
          <a:p>
            <a:pPr algn="l">
              <a:lnSpc>
                <a:spcPct val="150000"/>
              </a:lnSpc>
            </a:pPr>
            <a:r>
              <a:rPr sz="1100" b="0">
                <a:solidFill>
                  <a:srgbClr val="243029"/>
                </a:solidFill>
                <a:latin typeface="Consolas"/>
              </a:rPr>
              <a:t>raw_total = Σ contributions + 3.5·high_count + 1.25·medium_count</a:t>
            </a:r>
          </a:p>
          <a:p>
            <a:pPr algn="l">
              <a:lnSpc>
                <a:spcPct val="150000"/>
              </a:lnSpc>
            </a:pPr>
            <a:r>
              <a:rPr sz="1100" b="0">
                <a:solidFill>
                  <a:srgbClr val="243029"/>
                </a:solidFill>
                <a:latin typeface="Consolas"/>
              </a:rPr>
              <a:t>if raw_total ≤ 60:    score = round(raw_total)</a:t>
            </a:r>
          </a:p>
          <a:p>
            <a:pPr algn="l">
              <a:lnSpc>
                <a:spcPct val="150000"/>
              </a:lnSpc>
            </a:pPr>
            <a:r>
              <a:rPr sz="1100" b="0">
                <a:solidFill>
                  <a:srgbClr val="243029"/>
                </a:solidFill>
                <a:latin typeface="Consolas"/>
              </a:rPr>
              <a:t>else:                  score = round(60 + 36·(1 − exp(−(raw_total − 60) / 160)))</a:t>
            </a:r>
          </a:p>
          <a:p>
            <a:pPr algn="l">
              <a:lnSpc>
                <a:spcPct val="150000"/>
              </a:lnSpc>
            </a:pPr>
            <a:r>
              <a:rPr sz="1100" b="0">
                <a:solidFill>
                  <a:srgbClr val="243029"/>
                </a:solidFill>
                <a:latin typeface="Consolas"/>
              </a:rPr>
              <a:t>                       ⇒ asymptote ≈ 96, ceiling = 100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709160"/>
            <a:ext cx="5486400" cy="17373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3E6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80060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F1D18"/>
                </a:solidFill>
                <a:latin typeface="Cambria"/>
              </a:rPr>
              <a:t>Verdict thresholds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5212080"/>
            <a:ext cx="914400" cy="292608"/>
          </a:xfrm>
          <a:prstGeom prst="roundRect">
            <a:avLst>
              <a:gd name="adj" fmla="val 40000"/>
            </a:avLst>
          </a:prstGeom>
          <a:solidFill>
            <a:srgbClr val="9A1B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212080"/>
            <a:ext cx="9144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≥ 78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5212080"/>
            <a:ext cx="14630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9A1B0A"/>
                </a:solidFill>
                <a:latin typeface="Calibri"/>
              </a:rPr>
              <a:t>Critical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5212080"/>
            <a:ext cx="246888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243029"/>
                </a:solidFill>
                <a:latin typeface="Calibri"/>
              </a:rPr>
              <a:t>Do not sign in current form.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5504688"/>
            <a:ext cx="914400" cy="292608"/>
          </a:xfrm>
          <a:prstGeom prst="roundRect">
            <a:avLst>
              <a:gd name="adj" fmla="val 4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504688"/>
            <a:ext cx="9144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60 – 77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5960" y="5504688"/>
            <a:ext cx="14630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C2410C"/>
                </a:solidFill>
                <a:latin typeface="Calibri"/>
              </a:rPr>
              <a:t>High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83280" y="5504688"/>
            <a:ext cx="246888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243029"/>
                </a:solidFill>
                <a:latin typeface="Calibri"/>
              </a:rPr>
              <a:t>Revisions required before signing.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" y="5797296"/>
            <a:ext cx="914400" cy="292608"/>
          </a:xfrm>
          <a:prstGeom prst="roundRect">
            <a:avLst>
              <a:gd name="adj" fmla="val 4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797296"/>
            <a:ext cx="9144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30 – 59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65960" y="5797296"/>
            <a:ext cx="14630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B45309"/>
                </a:solidFill>
                <a:latin typeface="Calibri"/>
              </a:rPr>
              <a:t>Review Carefully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80" y="5797296"/>
            <a:ext cx="246888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243029"/>
                </a:solidFill>
                <a:latin typeface="Calibri"/>
              </a:rPr>
              <a:t>Manageable; clarify wording.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4400" y="6089904"/>
            <a:ext cx="914400" cy="292608"/>
          </a:xfrm>
          <a:prstGeom prst="roundRect">
            <a:avLst>
              <a:gd name="adj" fmla="val 40000"/>
            </a:avLst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6089904"/>
            <a:ext cx="9144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&lt; 30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65960" y="6089904"/>
            <a:ext cx="14630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5803D"/>
                </a:solidFill>
                <a:latin typeface="Calibri"/>
              </a:rPr>
              <a:t>Low Risk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83280" y="6089904"/>
            <a:ext cx="246888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243029"/>
                </a:solidFill>
                <a:latin typeface="Calibri"/>
              </a:rPr>
              <a:t>Final read-through recommended.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0" y="1554480"/>
            <a:ext cx="5166360" cy="4892040"/>
          </a:xfrm>
          <a:prstGeom prst="roundRect">
            <a:avLst>
              <a:gd name="adj" fmla="val 7000"/>
            </a:avLst>
          </a:prstGeom>
          <a:solidFill>
            <a:srgbClr val="F7F7F1"/>
          </a:solidFill>
          <a:ln w="9525">
            <a:solidFill>
              <a:srgbClr val="E3E6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75120" y="1691640"/>
            <a:ext cx="4709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F1D18"/>
                </a:solidFill>
                <a:latin typeface="Cambria"/>
              </a:rPr>
              <a:t>Score saturation, before vs. after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0" y="2103120"/>
            <a:ext cx="4709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43029"/>
                </a:solidFill>
                <a:latin typeface="Calibri"/>
              </a:rPr>
              <a:t>Before the curve, two very different bad contracts both hit 100. After the curve they spread out — the dashboard finally has range.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75120" y="32004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F1D18"/>
                </a:solidFill>
                <a:latin typeface="Calibri"/>
              </a:rPr>
              <a:t>Freelance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89520" y="3236976"/>
            <a:ext cx="3474720" cy="228600"/>
          </a:xfrm>
          <a:prstGeom prst="rect">
            <a:avLst/>
          </a:prstGeom>
          <a:solidFill>
            <a:srgbClr val="9A1B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80960" y="3236976"/>
            <a:ext cx="34747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Calibri"/>
              </a:rPr>
              <a:t>before · 100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589520" y="3566160"/>
            <a:ext cx="3127248" cy="22860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680960" y="3566160"/>
            <a:ext cx="34747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Calibri"/>
              </a:rPr>
              <a:t>after · 90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0" y="402336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F1D18"/>
                </a:solidFill>
                <a:latin typeface="Calibri"/>
              </a:rPr>
              <a:t>SaaS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589520" y="4059936"/>
            <a:ext cx="3474720" cy="228600"/>
          </a:xfrm>
          <a:prstGeom prst="rect">
            <a:avLst/>
          </a:prstGeom>
          <a:solidFill>
            <a:srgbClr val="9A1B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80960" y="4059936"/>
            <a:ext cx="34747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Calibri"/>
              </a:rPr>
              <a:t>before · 100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589520" y="4389120"/>
            <a:ext cx="2953512" cy="22860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680960" y="4389120"/>
            <a:ext cx="34747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Calibri"/>
              </a:rPr>
              <a:t>after · 85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75120" y="48463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F1D18"/>
                </a:solidFill>
                <a:latin typeface="Calibri"/>
              </a:rPr>
              <a:t>Influencer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589520" y="4882896"/>
            <a:ext cx="3474720" cy="228600"/>
          </a:xfrm>
          <a:prstGeom prst="rect">
            <a:avLst/>
          </a:prstGeom>
          <a:solidFill>
            <a:srgbClr val="9A1B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680960" y="4882896"/>
            <a:ext cx="34747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Calibri"/>
              </a:rPr>
              <a:t>before · 100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589520" y="5212080"/>
            <a:ext cx="2779776" cy="2286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680960" y="5212080"/>
            <a:ext cx="34747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FFFFFF"/>
                </a:solidFill>
                <a:latin typeface="Calibri"/>
              </a:rPr>
              <a:t>after · 80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75120" y="5989320"/>
            <a:ext cx="4709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5A6A62"/>
                </a:solidFill>
                <a:latin typeface="Calibri"/>
              </a:rPr>
              <a:t>Spread now 90 → 85 → 80 → 53 → 25 across all 5 demos.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7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57200" y="6601968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A6A62"/>
                </a:solidFill>
                <a:latin typeface="Calibri"/>
              </a:rPr>
              <a:t>ClearClause · NLP Final Project · Spring 2026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241280" y="6601968"/>
            <a:ext cx="1463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A6A62"/>
                </a:solidFill>
                <a:latin typeface="Calibri"/>
              </a:rPr>
              <a:t>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502920"/>
            <a:ext cx="73152" cy="640080"/>
          </a:xfrm>
          <a:prstGeom prst="rect">
            <a:avLst/>
          </a:prstGeom>
          <a:solidFill>
            <a:srgbClr val="2F5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5A6A62"/>
                </a:solidFill>
                <a:latin typeface="Calibri"/>
              </a:rPr>
              <a:t>NEGOTIATION COACH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0F1D18"/>
                </a:solidFill>
                <a:latin typeface="Cambria"/>
              </a:rPr>
              <a:t>From detection to action — what to ask for.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00200"/>
            <a:ext cx="5486400" cy="4663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3E6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91440" cy="466344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8308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F1D18"/>
                </a:solidFill>
                <a:latin typeface="Cambria"/>
              </a:rPr>
              <a:t>#1 · Indemnification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1874519"/>
            <a:ext cx="777240" cy="292608"/>
          </a:xfrm>
          <a:prstGeom prst="roundRect">
            <a:avLst>
              <a:gd name="adj" fmla="val 45000"/>
            </a:avLst>
          </a:prstGeom>
          <a:solidFill>
            <a:srgbClr val="FE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0" y="1874519"/>
            <a:ext cx="7772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C2410C"/>
                </a:solidFill>
                <a:latin typeface="Calibri"/>
              </a:rPr>
              <a:t>HIGH · 98%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3172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5A6A62"/>
                </a:solidFill>
                <a:latin typeface="Calibri"/>
              </a:rPr>
              <a:t>Legal-defense costs can be much higher than the project value.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2971800"/>
            <a:ext cx="201168" cy="201168"/>
          </a:xfrm>
          <a:prstGeom prst="roundRect">
            <a:avLst>
              <a:gd name="adj" fmla="val 45000"/>
            </a:avLst>
          </a:prstGeom>
          <a:solidFill>
            <a:srgbClr val="2F5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944368"/>
            <a:ext cx="201168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2880360"/>
            <a:ext cx="45720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43029"/>
                </a:solidFill>
                <a:latin typeface="Calibri"/>
              </a:rPr>
              <a:t>Make indemnity mutual: each party covers claims it actually caused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3474720"/>
            <a:ext cx="201168" cy="201168"/>
          </a:xfrm>
          <a:prstGeom prst="roundRect">
            <a:avLst>
              <a:gd name="adj" fmla="val 45000"/>
            </a:avLst>
          </a:prstGeom>
          <a:solidFill>
            <a:srgbClr val="2F5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447288"/>
            <a:ext cx="201168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3383280"/>
            <a:ext cx="45720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43029"/>
                </a:solidFill>
                <a:latin typeface="Calibri"/>
              </a:rPr>
              <a:t>Limit the trigger to 'to the extent caused by' your own breach, negligence, or IP claim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3977640"/>
            <a:ext cx="201168" cy="201168"/>
          </a:xfrm>
          <a:prstGeom prst="roundRect">
            <a:avLst>
              <a:gd name="adj" fmla="val 45000"/>
            </a:avLst>
          </a:prstGeom>
          <a:solidFill>
            <a:srgbClr val="2F5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950208"/>
            <a:ext cx="201168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886200"/>
            <a:ext cx="45720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43029"/>
                </a:solidFill>
                <a:latin typeface="Calibri"/>
              </a:rPr>
              <a:t>Require the client to control defense and let you approve any settlement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0" y="1600200"/>
            <a:ext cx="5166360" cy="4663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3E6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0" y="1783080"/>
            <a:ext cx="4709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F1D18"/>
                </a:solidFill>
                <a:latin typeface="Cambria"/>
              </a:rPr>
              <a:t>Fair-contract benchmark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2148840"/>
            <a:ext cx="4709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5A6A62"/>
                </a:solidFill>
                <a:latin typeface="Calibri"/>
              </a:rPr>
              <a:t>Each detected clause is compared to a fair-standard version. Missing standard clauses are flagged too.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75120" y="2926080"/>
            <a:ext cx="4617720" cy="329184"/>
          </a:xfrm>
          <a:prstGeom prst="rect">
            <a:avLst/>
          </a:prstGeom>
          <a:solidFill>
            <a:srgbClr val="F7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12280" y="2935224"/>
            <a:ext cx="18288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F1D18"/>
                </a:solidFill>
                <a:latin typeface="Calibri"/>
              </a:rPr>
              <a:t>Clause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0" y="2935224"/>
            <a:ext cx="10972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F1D18"/>
                </a:solidFill>
                <a:latin typeface="Calibri"/>
              </a:rPr>
              <a:t>Status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21240" y="2935224"/>
            <a:ext cx="18288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F1D18"/>
                </a:solidFill>
                <a:latin typeface="Calibri"/>
              </a:rPr>
              <a:t>Detected language vs. fair standard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0" y="3291840"/>
            <a:ext cx="18288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F1D18"/>
                </a:solidFill>
                <a:latin typeface="Calibri"/>
              </a:rPr>
              <a:t>IP Ownership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595360" y="3337560"/>
            <a:ext cx="1051560" cy="219456"/>
          </a:xfrm>
          <a:prstGeom prst="roundRect">
            <a:avLst>
              <a:gd name="adj" fmla="val 45000"/>
            </a:avLst>
          </a:prstGeom>
          <a:solidFill>
            <a:srgbClr val="FE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5360" y="3337560"/>
            <a:ext cx="105156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C2410C"/>
                </a:solidFill>
                <a:latin typeface="Calibri"/>
              </a:rPr>
              <a:t>high-risk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38360" y="3291840"/>
            <a:ext cx="1554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243029"/>
                </a:solidFill>
                <a:latin typeface="Calibri"/>
              </a:rPr>
              <a:t>Irrevocable assignment with no carve-outs.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75120" y="3648456"/>
            <a:ext cx="18288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F1D18"/>
                </a:solidFill>
                <a:latin typeface="Calibri"/>
              </a:rPr>
              <a:t>Unilateral Termination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595360" y="3694176"/>
            <a:ext cx="1051560" cy="219456"/>
          </a:xfrm>
          <a:prstGeom prst="roundRect">
            <a:avLst>
              <a:gd name="adj" fmla="val 45000"/>
            </a:avLst>
          </a:prstGeom>
          <a:solidFill>
            <a:srgbClr val="FE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95360" y="3694176"/>
            <a:ext cx="105156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C2410C"/>
                </a:solidFill>
                <a:latin typeface="Calibri"/>
              </a:rPr>
              <a:t>high-risk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38360" y="3648456"/>
            <a:ext cx="1554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243029"/>
                </a:solidFill>
                <a:latin typeface="Calibri"/>
              </a:rPr>
              <a:t>Sole-discretion termination, no kill fee.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75120" y="4005072"/>
            <a:ext cx="18288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F1D18"/>
                </a:solidFill>
                <a:latin typeface="Calibri"/>
              </a:rPr>
              <a:t>Liability Cap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595360" y="4050792"/>
            <a:ext cx="1051560" cy="219456"/>
          </a:xfrm>
          <a:prstGeom prst="roundRect">
            <a:avLst>
              <a:gd name="adj" fmla="val 45000"/>
            </a:avLst>
          </a:prstGeom>
          <a:solidFill>
            <a:srgbClr val="FDF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595360" y="4050792"/>
            <a:ext cx="105156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B45309"/>
                </a:solidFill>
                <a:latin typeface="Calibri"/>
              </a:rPr>
              <a:t>concerning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38360" y="4005072"/>
            <a:ext cx="1554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243029"/>
                </a:solidFill>
                <a:latin typeface="Calibri"/>
              </a:rPr>
              <a:t>One-sided cap protects only the client.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75120" y="4361688"/>
            <a:ext cx="18288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F1D18"/>
                </a:solidFill>
                <a:latin typeface="Calibri"/>
              </a:rPr>
              <a:t>Confidentiality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595360" y="4407408"/>
            <a:ext cx="1051560" cy="219456"/>
          </a:xfrm>
          <a:prstGeom prst="roundRect">
            <a:avLst>
              <a:gd name="adj" fmla="val 45000"/>
            </a:avLst>
          </a:prstGeom>
          <a:solidFill>
            <a:srgbClr val="D6F0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595360" y="4407408"/>
            <a:ext cx="105156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15803D"/>
                </a:solidFill>
                <a:latin typeface="Calibri"/>
              </a:rPr>
              <a:t>fair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738360" y="4361688"/>
            <a:ext cx="1554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243029"/>
                </a:solidFill>
                <a:latin typeface="Calibri"/>
              </a:rPr>
              <a:t>Mutual, 3-year term, standard exceptions.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75120" y="4718304"/>
            <a:ext cx="18288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F1D18"/>
                </a:solidFill>
                <a:latin typeface="Calibri"/>
              </a:rPr>
              <a:t>Non-Solicitation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595360" y="4764024"/>
            <a:ext cx="1051560" cy="219456"/>
          </a:xfrm>
          <a:prstGeom prst="roundRect">
            <a:avLst>
              <a:gd name="adj" fmla="val 45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595360" y="4764024"/>
            <a:ext cx="105156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1D4ED8"/>
                </a:solidFill>
                <a:latin typeface="Calibri"/>
              </a:rPr>
              <a:t>missing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738360" y="4718304"/>
            <a:ext cx="15544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243029"/>
                </a:solidFill>
                <a:latin typeface="Calibri"/>
              </a:rPr>
              <a:t>Standard clause not present — ask why.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7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6601968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A6A62"/>
                </a:solidFill>
                <a:latin typeface="Calibri"/>
              </a:rPr>
              <a:t>ClearClause · NLP Final Project · Spring 2026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241280" y="6601968"/>
            <a:ext cx="1463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A6A62"/>
                </a:solidFill>
                <a:latin typeface="Calibri"/>
              </a:rPr>
              <a:t>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502920"/>
            <a:ext cx="73152" cy="640080"/>
          </a:xfrm>
          <a:prstGeom prst="rect">
            <a:avLst/>
          </a:prstGeom>
          <a:solidFill>
            <a:srgbClr val="2F5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5A6A62"/>
                </a:solidFill>
                <a:latin typeface="Calibri"/>
              </a:rPr>
              <a:t>INLINE REDLINE 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0F1D18"/>
                </a:solidFill>
                <a:latin typeface="Cambria"/>
              </a:rPr>
              <a:t>Full contract with risky spans highlighted in place.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243029"/>
                </a:solidFill>
                <a:latin typeface="Calibri"/>
              </a:rPr>
              <a:t>The Streamlit redline view stitches all detected spans back into the source text so a reviewer can see at a glance which paragraphs need attention — hover any highlight for the clause name.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514600"/>
            <a:ext cx="1097280" cy="320040"/>
          </a:xfrm>
          <a:prstGeom prst="roundRect">
            <a:avLst>
              <a:gd name="adj" fmla="val 45000"/>
            </a:avLst>
          </a:prstGeom>
          <a:solidFill>
            <a:srgbClr val="FE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514600"/>
            <a:ext cx="10972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C2410C"/>
                </a:solidFill>
                <a:latin typeface="Calibri"/>
              </a:rPr>
              <a:t>HIGH · 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28800" y="2514600"/>
            <a:ext cx="1280160" cy="320040"/>
          </a:xfrm>
          <a:prstGeom prst="roundRect">
            <a:avLst>
              <a:gd name="adj" fmla="val 45000"/>
            </a:avLst>
          </a:prstGeom>
          <a:solidFill>
            <a:srgbClr val="FDF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0" y="2514600"/>
            <a:ext cx="128016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B45309"/>
                </a:solidFill>
                <a:latin typeface="Calibri"/>
              </a:rPr>
              <a:t>MEDIUM · 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00400" y="2514600"/>
            <a:ext cx="1097280" cy="320040"/>
          </a:xfrm>
          <a:prstGeom prst="roundRect">
            <a:avLst>
              <a:gd name="adj" fmla="val 45000"/>
            </a:avLst>
          </a:prstGeom>
          <a:solidFill>
            <a:srgbClr val="D6F0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0" y="2514600"/>
            <a:ext cx="109728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5803D"/>
                </a:solidFill>
                <a:latin typeface="Calibri"/>
              </a:rPr>
              <a:t>LOW ·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2514600"/>
            <a:ext cx="45720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5A6A62"/>
                </a:solidFill>
                <a:latin typeface="Calibri"/>
              </a:rPr>
              <a:t>(from the high-risk freelance demo)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971800"/>
            <a:ext cx="10972800" cy="3429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3E6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2960" y="3154680"/>
            <a:ext cx="10607040" cy="3063240"/>
          </a:xfrm>
          <a:prstGeom prst="roundRect">
            <a:avLst>
              <a:gd name="adj" fmla="val 7000"/>
            </a:avLst>
          </a:prstGeom>
          <a:solidFill>
            <a:srgbClr val="F7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3383280"/>
            <a:ext cx="10058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43029"/>
                </a:solidFill>
                <a:latin typeface="Consolas"/>
              </a:rPr>
              <a:t>3. Intellectual Property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05840" y="3739896"/>
            <a:ext cx="10241280" cy="246888"/>
          </a:xfrm>
          <a:prstGeom prst="rect">
            <a:avLst/>
          </a:prstGeom>
          <a:solidFill>
            <a:srgbClr val="FE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05840" y="3968496"/>
            <a:ext cx="10241280" cy="2000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3703320"/>
            <a:ext cx="10058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0F1D18"/>
                </a:solidFill>
                <a:latin typeface="Consolas"/>
              </a:rPr>
              <a:t>Contractor irrevocably assigns all right, title, and interest to Client.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4160520"/>
            <a:ext cx="10058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43029"/>
                </a:solidFill>
                <a:latin typeface="Consolas"/>
              </a:rPr>
              <a:t>5. Non-Compete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05840" y="4517136"/>
            <a:ext cx="10241280" cy="246888"/>
          </a:xfrm>
          <a:prstGeom prst="rect">
            <a:avLst/>
          </a:prstGeom>
          <a:solidFill>
            <a:srgbClr val="FE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05840" y="4745736"/>
            <a:ext cx="10241280" cy="2000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4480560"/>
            <a:ext cx="10058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0F1D18"/>
                </a:solidFill>
                <a:latin typeface="Consolas"/>
              </a:rPr>
              <a:t>Contractor shall not compete with Client for 24 months after termination.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4937760"/>
            <a:ext cx="10058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43029"/>
                </a:solidFill>
                <a:latin typeface="Consolas"/>
              </a:rPr>
              <a:t>8. Termination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05840" y="5294375"/>
            <a:ext cx="10241280" cy="246888"/>
          </a:xfrm>
          <a:prstGeom prst="rect">
            <a:avLst/>
          </a:prstGeom>
          <a:solidFill>
            <a:srgbClr val="FE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" y="5522975"/>
            <a:ext cx="10241280" cy="2000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97280" y="5257799"/>
            <a:ext cx="10058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0F1D18"/>
                </a:solidFill>
                <a:latin typeface="Consolas"/>
              </a:rPr>
              <a:t>Client may terminate this Agreement at its convenience upon 7 days notice.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" y="5715000"/>
            <a:ext cx="10058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43029"/>
                </a:solidFill>
                <a:latin typeface="Consolas"/>
              </a:rPr>
              <a:t>12. Governing Law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05840" y="6071616"/>
            <a:ext cx="10241280" cy="246888"/>
          </a:xfrm>
          <a:prstGeom prst="rect">
            <a:avLst/>
          </a:prstGeom>
          <a:solidFill>
            <a:srgbClr val="FDF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05840" y="6300216"/>
            <a:ext cx="10241280" cy="200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97280" y="6035040"/>
            <a:ext cx="10058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0F1D18"/>
                </a:solidFill>
                <a:latin typeface="Consolas"/>
              </a:rPr>
              <a:t>Governed by the laws of Delaware; exclusive jurisdiction in New Castle County.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7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6601968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A6A62"/>
                </a:solidFill>
                <a:latin typeface="Calibri"/>
              </a:rPr>
              <a:t>ClearClause · NLP Final Project · Spring 2026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41280" y="6601968"/>
            <a:ext cx="1463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A6A62"/>
                </a:solidFill>
                <a:latin typeface="Calibri"/>
              </a:rPr>
              <a:t>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502920"/>
            <a:ext cx="73152" cy="640080"/>
          </a:xfrm>
          <a:prstGeom prst="rect">
            <a:avLst/>
          </a:prstGeom>
          <a:solidFill>
            <a:srgbClr val="2F5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5A6A62"/>
                </a:solidFill>
                <a:latin typeface="Calibri"/>
              </a:rPr>
              <a:t>ASK THE DOCUMENT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0F1D18"/>
                </a:solidFill>
                <a:latin typeface="Cambria"/>
              </a:rPr>
              <a:t>Grounded retrieval Q&amp;A — no hallucinations.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F1D18"/>
                </a:solidFill>
                <a:latin typeface="Cambria"/>
              </a:rPr>
              <a:t>Retrieval flow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057400"/>
            <a:ext cx="5486400" cy="8686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3E6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68680" y="2221992"/>
            <a:ext cx="457200" cy="457200"/>
          </a:xfrm>
          <a:prstGeom prst="roundRect">
            <a:avLst>
              <a:gd name="adj" fmla="val 40000"/>
            </a:avLst>
          </a:prstGeom>
          <a:solidFill>
            <a:srgbClr val="2F5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2199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2167128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F1D18"/>
                </a:solidFill>
                <a:latin typeface="Cambria"/>
              </a:rPr>
              <a:t>Chunk contract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2514600"/>
            <a:ext cx="4389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43029"/>
                </a:solidFill>
                <a:latin typeface="Calibri"/>
              </a:rPr>
              <a:t>Split into ~950-char overlapping paragraphs.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017520"/>
            <a:ext cx="5486400" cy="8686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3E6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68680" y="3182112"/>
            <a:ext cx="457200" cy="457200"/>
          </a:xfrm>
          <a:prstGeom prst="roundRect">
            <a:avLst>
              <a:gd name="adj" fmla="val 4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821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127248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F1D18"/>
                </a:solidFill>
                <a:latin typeface="Cambria"/>
              </a:rPr>
              <a:t>Match clause intent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3474720"/>
            <a:ext cx="4389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43029"/>
                </a:solidFill>
                <a:latin typeface="Calibri"/>
              </a:rPr>
              <a:t>Keyword map for 17 topics → shortcut to detected clause.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977640"/>
            <a:ext cx="5486400" cy="8686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3E6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68680" y="4142232"/>
            <a:ext cx="457200" cy="457200"/>
          </a:xfrm>
          <a:prstGeom prst="roundRect">
            <a:avLst>
              <a:gd name="adj" fmla="val 4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4223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4087368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F1D18"/>
                </a:solidFill>
                <a:latin typeface="Cambria"/>
              </a:rPr>
              <a:t>TF-IDF retrieve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4434840"/>
            <a:ext cx="4389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43029"/>
                </a:solidFill>
                <a:latin typeface="Calibri"/>
              </a:rPr>
              <a:t>Cosine top-k chunks for the user's question.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937760"/>
            <a:ext cx="5486400" cy="8686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3E6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8680" y="5102352"/>
            <a:ext cx="457200" cy="457200"/>
          </a:xfrm>
          <a:prstGeom prst="roundRect">
            <a:avLst>
              <a:gd name="adj" fmla="val 40000"/>
            </a:avLst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510235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63040" y="5047488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F1D18"/>
                </a:solidFill>
                <a:latin typeface="Cambria"/>
              </a:rPr>
              <a:t>Respond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63040" y="5394960"/>
            <a:ext cx="4389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43029"/>
                </a:solidFill>
                <a:latin typeface="Calibri"/>
              </a:rPr>
              <a:t>Use the clause's plain-English answer + cite contract evidence.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0" y="1600200"/>
            <a:ext cx="5166360" cy="4937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3E6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75120" y="1737360"/>
            <a:ext cx="4709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F1D18"/>
                </a:solidFill>
                <a:latin typeface="Cambria"/>
              </a:rPr>
              <a:t>Example exchange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0" y="2194560"/>
            <a:ext cx="3977640" cy="594360"/>
          </a:xfrm>
          <a:prstGeom prst="roundRect">
            <a:avLst>
              <a:gd name="adj" fmla="val 7000"/>
            </a:avLst>
          </a:prstGeom>
          <a:solidFill>
            <a:srgbClr val="2F5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52360" y="2194560"/>
            <a:ext cx="37490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FFFFFF"/>
                </a:solidFill>
                <a:latin typeface="Calibri"/>
              </a:rPr>
              <a:t>Who owns the final source code?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675120" y="2926080"/>
            <a:ext cx="3977640" cy="3291840"/>
          </a:xfrm>
          <a:prstGeom prst="roundRect">
            <a:avLst>
              <a:gd name="adj" fmla="val 7000"/>
            </a:avLst>
          </a:prstGeom>
          <a:solidFill>
            <a:srgbClr val="F7F7F1"/>
          </a:solidFill>
          <a:ln w="9525">
            <a:solidFill>
              <a:srgbClr val="E3E6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0" y="3017520"/>
            <a:ext cx="3703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2410C"/>
                </a:solidFill>
                <a:latin typeface="Calibri"/>
              </a:rPr>
              <a:t>Detected: IP Ownership (HIGH · 98% confidence)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0" y="3383280"/>
            <a:ext cx="370332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243029"/>
                </a:solidFill>
                <a:latin typeface="Calibri"/>
              </a:rPr>
              <a:t>Plain English: The contract assigns all IP, source code, and deliverables to the client. You will not own the finished work.</a:t>
            </a:r>
          </a:p>
          <a:p>
            <a:pPr algn="l">
              <a:lnSpc>
                <a:spcPct val="135000"/>
              </a:lnSpc>
            </a:pPr>
            <a:r>
              <a:rPr sz="1000" b="0">
                <a:solidFill>
                  <a:srgbClr val="243029"/>
                </a:solidFill>
                <a:latin typeface="Calibr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>
                <a:solidFill>
                  <a:srgbClr val="243029"/>
                </a:solidFill>
                <a:latin typeface="Calibri"/>
              </a:rPr>
              <a:t>Negotiation note: Carve out pre-existing tools, templates, and generic libraries; reserve portfolio display rights.</a:t>
            </a:r>
          </a:p>
          <a:p>
            <a:pPr algn="l">
              <a:lnSpc>
                <a:spcPct val="135000"/>
              </a:lnSpc>
            </a:pPr>
            <a:r>
              <a:rPr sz="1000" b="0">
                <a:solidFill>
                  <a:srgbClr val="243029"/>
                </a:solidFill>
                <a:latin typeface="Calibr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>
                <a:solidFill>
                  <a:srgbClr val="243029"/>
                </a:solidFill>
                <a:latin typeface="Calibri"/>
              </a:rPr>
              <a:t>Evidence: "Contractor irrevocably assigns all right, title, and interest in such intellectual property to Client. Client shall exclusively own all deliverables."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7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6601968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A6A62"/>
                </a:solidFill>
                <a:latin typeface="Calibri"/>
              </a:rPr>
              <a:t>ClearClause · NLP Final Project · Spring 2026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41280" y="6601968"/>
            <a:ext cx="1463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A6A62"/>
                </a:solidFill>
                <a:latin typeface="Calibri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502920"/>
            <a:ext cx="73152" cy="640080"/>
          </a:xfrm>
          <a:prstGeom prst="rect">
            <a:avLst/>
          </a:prstGeom>
          <a:solidFill>
            <a:srgbClr val="2F5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5A6A62"/>
                </a:solidFill>
                <a:latin typeface="Calibri"/>
              </a:rPr>
              <a:t>EXECUTIVE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0F1D18"/>
                </a:solidFill>
                <a:latin typeface="Cambria"/>
              </a:rPr>
              <a:t>Score, verdict, radar, KPI strip, and ranked red flags.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5127" y="1554480"/>
            <a:ext cx="2194560" cy="9601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3E6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8007" y="1645920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5A6A62"/>
                </a:solidFill>
                <a:latin typeface="Calibri"/>
              </a:rPr>
              <a:t>Risk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8007" y="1901952"/>
            <a:ext cx="1920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9A1B0A"/>
                </a:solidFill>
                <a:latin typeface="Cambria"/>
              </a:rPr>
              <a:t>90/100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66847" y="1554480"/>
            <a:ext cx="2194560" cy="9601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3E6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49727" y="1645920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5A6A62"/>
                </a:solidFill>
                <a:latin typeface="Calibri"/>
              </a:rPr>
              <a:t>High-risk clauses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49727" y="1901952"/>
            <a:ext cx="1920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C2410C"/>
                </a:solidFill>
                <a:latin typeface="Cambria"/>
              </a:rPr>
              <a:t>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98567" y="1554480"/>
            <a:ext cx="2194560" cy="9601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3E6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81447" y="1645920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5A6A62"/>
                </a:solidFill>
                <a:latin typeface="Calibri"/>
              </a:rPr>
              <a:t>Medium-risk clauses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81447" y="1901952"/>
            <a:ext cx="1920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B45309"/>
                </a:solidFill>
                <a:latin typeface="Cambria"/>
              </a:rPr>
              <a:t>7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30287" y="1554480"/>
            <a:ext cx="2194560" cy="9601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3E6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13167" y="1645920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5A6A62"/>
                </a:solidFill>
                <a:latin typeface="Calibri"/>
              </a:rPr>
              <a:t>Low + Info clauses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13167" y="1901952"/>
            <a:ext cx="1920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5803D"/>
                </a:solidFill>
                <a:latin typeface="Cambria"/>
              </a:rPr>
              <a:t>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662007" y="1554480"/>
            <a:ext cx="2194560" cy="9601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3E6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44887" y="1645920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5A6A62"/>
                </a:solidFill>
                <a:latin typeface="Calibri"/>
              </a:rPr>
              <a:t>Avg confidence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44887" y="1901952"/>
            <a:ext cx="1920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2F5A40"/>
                </a:solidFill>
                <a:latin typeface="Cambria"/>
              </a:rPr>
              <a:t>89%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2697480"/>
            <a:ext cx="10972800" cy="9601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3E6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2697480"/>
            <a:ext cx="109728" cy="960120"/>
          </a:xfrm>
          <a:prstGeom prst="rect">
            <a:avLst/>
          </a:prstGeom>
          <a:solidFill>
            <a:srgbClr val="9A1B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27889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5A6A62"/>
                </a:solidFill>
                <a:latin typeface="Calibri"/>
              </a:rPr>
              <a:t>CLEARCLAUSE VERDICT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304495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F1D18"/>
                </a:solidFill>
                <a:latin typeface="Cambria"/>
              </a:rPr>
              <a:t>Critical Risk — Do not sign in the current form.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3337560"/>
            <a:ext cx="100584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A6A62"/>
                </a:solidFill>
                <a:latin typeface="Calibri"/>
              </a:rPr>
              <a:t>Concentrates several high-severity clauses against one party. Push for revisions on the priority red flags before signing.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9447" y="3840480"/>
            <a:ext cx="3566160" cy="26060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3E6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2327" y="397764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5A6A62"/>
                </a:solidFill>
                <a:latin typeface="Calibri"/>
              </a:rPr>
              <a:t>Composite risk score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12367" y="5166360"/>
            <a:ext cx="768096" cy="365760"/>
          </a:xfrm>
          <a:prstGeom prst="rect">
            <a:avLst/>
          </a:prstGeom>
          <a:solidFill>
            <a:srgbClr val="D6F0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880463" y="5166360"/>
            <a:ext cx="768096" cy="365760"/>
          </a:xfrm>
          <a:prstGeom prst="rect">
            <a:avLst/>
          </a:prstGeom>
          <a:solidFill>
            <a:srgbClr val="FDF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648559" y="5166360"/>
            <a:ext cx="460857" cy="365760"/>
          </a:xfrm>
          <a:prstGeom prst="rect">
            <a:avLst/>
          </a:prstGeom>
          <a:solidFill>
            <a:srgbClr val="FE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109417" y="5166360"/>
            <a:ext cx="563270" cy="365760"/>
          </a:xfrm>
          <a:prstGeom prst="rect">
            <a:avLst/>
          </a:prstGeom>
          <a:solidFill>
            <a:srgbClr val="F8C8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396655" y="5074920"/>
            <a:ext cx="40000" cy="548640"/>
          </a:xfrm>
          <a:prstGeom prst="rect">
            <a:avLst/>
          </a:prstGeom>
          <a:solidFill>
            <a:srgbClr val="142A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2327" y="5669280"/>
            <a:ext cx="3200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C2410C"/>
                </a:solidFill>
                <a:latin typeface="Cambria"/>
              </a:rPr>
              <a:t>90/100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2327" y="608076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5A6A62"/>
                </a:solidFill>
                <a:latin typeface="Calibri"/>
              </a:rPr>
              <a:t>Critical Risk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312767" y="3840480"/>
            <a:ext cx="3566160" cy="26060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3E6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95647" y="397764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5A6A62"/>
                </a:solidFill>
                <a:latin typeface="Calibri"/>
              </a:rPr>
              <a:t>Risk by business area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95647" y="438912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243029"/>
                </a:solidFill>
                <a:latin typeface="Calibri"/>
              </a:rPr>
              <a:t>Money exposure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730087" y="4462272"/>
            <a:ext cx="2018995" cy="164592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558887" y="4389120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0F1D18"/>
                </a:solidFill>
                <a:latin typeface="Calibri"/>
              </a:rPr>
              <a:t>92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95647" y="475488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243029"/>
                </a:solidFill>
                <a:latin typeface="Calibri"/>
              </a:rPr>
              <a:t>Ownership &amp; data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730087" y="4828032"/>
            <a:ext cx="1843430" cy="164592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558887" y="4754880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0F1D18"/>
                </a:solidFill>
                <a:latin typeface="Calibri"/>
              </a:rPr>
              <a:t>84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495647" y="512064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243029"/>
                </a:solidFill>
                <a:latin typeface="Calibri"/>
              </a:rPr>
              <a:t>Work freedom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730087" y="5193792"/>
            <a:ext cx="1931212" cy="164592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558887" y="5120640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0F1D18"/>
                </a:solidFill>
                <a:latin typeface="Calibri"/>
              </a:rPr>
              <a:t>88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95647" y="548640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243029"/>
                </a:solidFill>
                <a:latin typeface="Calibri"/>
              </a:rPr>
              <a:t>Disputes &amp; enforcement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730087" y="5559552"/>
            <a:ext cx="1536192" cy="164592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558887" y="5486400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0F1D18"/>
                </a:solidFill>
                <a:latin typeface="Calibri"/>
              </a:rPr>
              <a:t>70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95647" y="5852160"/>
            <a:ext cx="1371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243029"/>
                </a:solidFill>
                <a:latin typeface="Calibri"/>
              </a:rPr>
              <a:t>Operational clarity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730087" y="5925312"/>
            <a:ext cx="987552" cy="164592"/>
          </a:xfrm>
          <a:prstGeom prst="rect">
            <a:avLst/>
          </a:prstGeom>
          <a:solidFill>
            <a:srgbClr val="6F8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558887" y="5852160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0F1D18"/>
                </a:solidFill>
                <a:latin typeface="Calibri"/>
              </a:rPr>
              <a:t>45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016087" y="3840480"/>
            <a:ext cx="3566160" cy="26060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3E6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198967" y="397764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5A6A62"/>
                </a:solidFill>
                <a:latin typeface="Calibri"/>
              </a:rPr>
              <a:t>Priority red flags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198967" y="4343400"/>
            <a:ext cx="3200400" cy="411480"/>
          </a:xfrm>
          <a:prstGeom prst="roundRect">
            <a:avLst>
              <a:gd name="adj" fmla="val 7000"/>
            </a:avLst>
          </a:prstGeom>
          <a:solidFill>
            <a:srgbClr val="F7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198967" y="4343400"/>
            <a:ext cx="54864" cy="41148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336127" y="4343400"/>
            <a:ext cx="1554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F1D18"/>
                </a:solidFill>
                <a:latin typeface="Calibri"/>
              </a:rPr>
              <a:t>Indemnification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890606" y="4343400"/>
            <a:ext cx="15087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5A6A62"/>
                </a:solidFill>
                <a:latin typeface="Calibri"/>
              </a:rPr>
              <a:t>Legal-defense costs can exceed project value.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198967" y="4818888"/>
            <a:ext cx="3200400" cy="411480"/>
          </a:xfrm>
          <a:prstGeom prst="roundRect">
            <a:avLst>
              <a:gd name="adj" fmla="val 7000"/>
            </a:avLst>
          </a:prstGeom>
          <a:solidFill>
            <a:srgbClr val="F7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8198967" y="4818888"/>
            <a:ext cx="54864" cy="41148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336127" y="4818888"/>
            <a:ext cx="1554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F1D18"/>
                </a:solidFill>
                <a:latin typeface="Calibri"/>
              </a:rPr>
              <a:t>IP Ownership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90606" y="4818888"/>
            <a:ext cx="15087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5A6A62"/>
                </a:solidFill>
                <a:latin typeface="Calibri"/>
              </a:rPr>
              <a:t>Loss of source-code and portfolio rights.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198967" y="5294376"/>
            <a:ext cx="3200400" cy="411480"/>
          </a:xfrm>
          <a:prstGeom prst="roundRect">
            <a:avLst>
              <a:gd name="adj" fmla="val 7000"/>
            </a:avLst>
          </a:prstGeom>
          <a:solidFill>
            <a:srgbClr val="F7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198967" y="5294376"/>
            <a:ext cx="54864" cy="41148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336127" y="5294376"/>
            <a:ext cx="1554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F1D18"/>
                </a:solidFill>
                <a:latin typeface="Calibri"/>
              </a:rPr>
              <a:t>Non-Compete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890606" y="5294376"/>
            <a:ext cx="15087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5A6A62"/>
                </a:solidFill>
                <a:latin typeface="Calibri"/>
              </a:rPr>
              <a:t>Blocks main source of income after contract.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8198967" y="5769864"/>
            <a:ext cx="3200400" cy="411480"/>
          </a:xfrm>
          <a:prstGeom prst="roundRect">
            <a:avLst>
              <a:gd name="adj" fmla="val 7000"/>
            </a:avLst>
          </a:prstGeom>
          <a:solidFill>
            <a:srgbClr val="F7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198967" y="5769864"/>
            <a:ext cx="54864" cy="41148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336127" y="5769864"/>
            <a:ext cx="1554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F1D18"/>
                </a:solidFill>
                <a:latin typeface="Calibri"/>
              </a:rPr>
              <a:t>Unlimited Liability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890606" y="5769864"/>
            <a:ext cx="15087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5A6A62"/>
                </a:solidFill>
                <a:latin typeface="Calibri"/>
              </a:rPr>
              <a:t>Personal exposure beyond fee.</a:t>
            </a:r>
          </a:p>
        </p:txBody>
      </p:sp>
      <p:sp>
        <p:nvSpPr>
          <p:cNvPr id="70" name="Rectangle 6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7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57200" y="6601968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A6A62"/>
                </a:solidFill>
                <a:latin typeface="Calibri"/>
              </a:rPr>
              <a:t>ClearClause · NLP Final Project · Spring 2026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241280" y="6601968"/>
            <a:ext cx="1463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A6A62"/>
                </a:solidFill>
                <a:latin typeface="Calibri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502920"/>
            <a:ext cx="73152" cy="640080"/>
          </a:xfrm>
          <a:prstGeom prst="rect">
            <a:avLst/>
          </a:prstGeom>
          <a:solidFill>
            <a:srgbClr val="2F5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5A6A62"/>
                </a:solidFill>
                <a:latin typeface="Calibri"/>
              </a:rPr>
              <a:t>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0F1D18"/>
                </a:solidFill>
                <a:latin typeface="Cambria"/>
              </a:rPr>
              <a:t>Gold (in-domain) + held-out (out-of-domain) = honest metrics.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43029"/>
                </a:solidFill>
                <a:latin typeface="Calibri"/>
              </a:rPr>
              <a:t>The hand-curated gold set scores 1.00 across the board, but that's the optimistic number because the catalog was tuned against this contract. The held-out demo is from a completely different domain (influencer marketing) and reports the realistic number.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3727" y="2468880"/>
            <a:ext cx="5440680" cy="33375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3E6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3727" y="2468880"/>
            <a:ext cx="5440680" cy="457200"/>
          </a:xfrm>
          <a:prstGeom prst="rect">
            <a:avLst/>
          </a:prstGeom>
          <a:solidFill>
            <a:srgbClr val="2F5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8047" y="2514600"/>
            <a:ext cx="4892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Cambria"/>
              </a:rPr>
              <a:t>Gold demo · high-risk freelance contract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047" y="3063240"/>
            <a:ext cx="4892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A6A62"/>
                </a:solidFill>
                <a:latin typeface="Calibri"/>
              </a:rPr>
              <a:t>17 expected clause IDs · catalog was tuned against this contract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8047" y="3520440"/>
            <a:ext cx="1554480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3E6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8047" y="3520440"/>
            <a:ext cx="73152" cy="1005840"/>
          </a:xfrm>
          <a:prstGeom prst="rect">
            <a:avLst/>
          </a:prstGeom>
          <a:solidFill>
            <a:srgbClr val="2F5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6647" y="3630168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5A6A62"/>
                </a:solidFill>
                <a:latin typeface="Calibri"/>
              </a:rPr>
              <a:t>Precision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6647" y="3886200"/>
            <a:ext cx="1188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2F5A40"/>
                </a:solidFill>
                <a:latin typeface="Cambria"/>
              </a:rPr>
              <a:t>1.00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506827" y="3520440"/>
            <a:ext cx="1554480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3E6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506827" y="3520440"/>
            <a:ext cx="73152" cy="1005840"/>
          </a:xfrm>
          <a:prstGeom prst="rect">
            <a:avLst/>
          </a:prstGeom>
          <a:solidFill>
            <a:srgbClr val="2F5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35427" y="3630168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5A6A62"/>
                </a:solidFill>
                <a:latin typeface="Calibri"/>
              </a:rPr>
              <a:t>Recall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35427" y="3886200"/>
            <a:ext cx="1188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2F5A40"/>
                </a:solidFill>
                <a:latin typeface="Cambria"/>
              </a:rPr>
              <a:t>1.00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75607" y="3520440"/>
            <a:ext cx="1554480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3E6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75607" y="3520440"/>
            <a:ext cx="73152" cy="1005840"/>
          </a:xfrm>
          <a:prstGeom prst="rect">
            <a:avLst/>
          </a:prstGeom>
          <a:solidFill>
            <a:srgbClr val="2F5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04207" y="3630168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5A6A62"/>
                </a:solidFill>
                <a:latin typeface="Calibri"/>
              </a:rPr>
              <a:t>F1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04207" y="3886200"/>
            <a:ext cx="1188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2F5A40"/>
                </a:solidFill>
                <a:latin typeface="Cambria"/>
              </a:rPr>
              <a:t>1.00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8047" y="4709160"/>
            <a:ext cx="4892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0F1D18"/>
                </a:solidFill>
                <a:latin typeface="Calibri"/>
              </a:rPr>
              <a:t>TP: 17  ·  FP: 0  ·  FN: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047" y="5029200"/>
            <a:ext cx="4892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243029"/>
                </a:solidFill>
                <a:latin typeface="Calibri"/>
              </a:rPr>
              <a:t>Every expected clause type is detected. Confidence is high (avg 0.87), and severity counts (7 HIGH / 8 MEDIUM) match a sensible legal review.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87287" y="2468880"/>
            <a:ext cx="5440680" cy="33375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3E6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87287" y="2468880"/>
            <a:ext cx="5440680" cy="45720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61607" y="2514600"/>
            <a:ext cx="4892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Cambria"/>
              </a:rPr>
              <a:t>Held-out · creator / influencer agreement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61607" y="3063240"/>
            <a:ext cx="4892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A6A62"/>
                </a:solidFill>
                <a:latin typeface="Calibri"/>
              </a:rPr>
              <a:t>11 expected clause IDs · catalog was NOT tuned for this domain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61607" y="3520440"/>
            <a:ext cx="1554480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3E6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61607" y="3520440"/>
            <a:ext cx="73152" cy="100584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90207" y="3630168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5A6A62"/>
                </a:solidFill>
                <a:latin typeface="Calibri"/>
              </a:rPr>
              <a:t>Precision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90207" y="3886200"/>
            <a:ext cx="1188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C2410C"/>
                </a:solidFill>
                <a:latin typeface="Cambria"/>
              </a:rPr>
              <a:t>0.92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30387" y="3520440"/>
            <a:ext cx="1554480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3E6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130387" y="3520440"/>
            <a:ext cx="73152" cy="1005840"/>
          </a:xfrm>
          <a:prstGeom prst="rect">
            <a:avLst/>
          </a:prstGeom>
          <a:solidFill>
            <a:srgbClr val="2F5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58987" y="3630168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5A6A62"/>
                </a:solidFill>
                <a:latin typeface="Calibri"/>
              </a:rPr>
              <a:t>Recall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58987" y="3886200"/>
            <a:ext cx="1188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2F5A40"/>
                </a:solidFill>
                <a:latin typeface="Cambria"/>
              </a:rPr>
              <a:t>1.00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799167" y="3520440"/>
            <a:ext cx="1554480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3E6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799167" y="3520440"/>
            <a:ext cx="73152" cy="100584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27767" y="3630168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5A6A62"/>
                </a:solidFill>
                <a:latin typeface="Calibri"/>
              </a:rPr>
              <a:t>F1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27767" y="3886200"/>
            <a:ext cx="1188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B45309"/>
                </a:solidFill>
                <a:latin typeface="Cambria"/>
              </a:rPr>
              <a:t>0.96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61607" y="4709160"/>
            <a:ext cx="4892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0F1D18"/>
                </a:solidFill>
                <a:latin typeface="Calibri"/>
              </a:rPr>
              <a:t>TP: 11  ·  FP: 1 (non_compete)  ·  FN: 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61607" y="5029200"/>
            <a:ext cx="4892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243029"/>
                </a:solidFill>
                <a:latin typeface="Calibri"/>
              </a:rPr>
              <a:t>The one false positive (non_compete) flags a section that is really 'Category Exclusivity'. Honest failure mode worth discussing in viva — a real limit of the catalog on creator contracts.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40080" y="5989320"/>
            <a:ext cx="10972800" cy="457200"/>
          </a:xfrm>
          <a:prstGeom prst="roundRect">
            <a:avLst>
              <a:gd name="adj" fmla="val 7000"/>
            </a:avLst>
          </a:prstGeom>
          <a:solidFill>
            <a:srgbClr val="F6F5EC"/>
          </a:solidFill>
          <a:ln w="9525">
            <a:solidFill>
              <a:srgbClr val="E3E6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22960" y="6016752"/>
            <a:ext cx="106070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42A20"/>
                </a:solidFill>
                <a:latin typeface="Calibri"/>
              </a:rPr>
              <a:t>21 / 21 unit tests pass · pipeline, exports, Q&amp;A, score spread, held-out evaluation, calibration, redline rendering.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7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57200" y="6601968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A6A62"/>
                </a:solidFill>
                <a:latin typeface="Calibri"/>
              </a:rPr>
              <a:t>ClearClause · NLP Final Project · Spring 2026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41280" y="6601968"/>
            <a:ext cx="1463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A6A62"/>
                </a:solidFill>
                <a:latin typeface="Calibri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502920"/>
            <a:ext cx="73152" cy="640080"/>
          </a:xfrm>
          <a:prstGeom prst="rect">
            <a:avLst/>
          </a:prstGeom>
          <a:solidFill>
            <a:srgbClr val="2F5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5A6A62"/>
                </a:solidFill>
                <a:latin typeface="Calibri"/>
              </a:rPr>
              <a:t>SCORE SPREAD + CALIBRATION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0F1D18"/>
                </a:solidFill>
                <a:latin typeface="Cambria"/>
              </a:rPr>
              <a:t>The model is well-calibrated and the gauge has real range.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554480"/>
            <a:ext cx="5486400" cy="48920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3E6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9164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F1D18"/>
                </a:solidFill>
                <a:latin typeface="Cambria"/>
              </a:rPr>
              <a:t>Risk score across the 5 bundled demos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5740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A6A62"/>
                </a:solidFill>
                <a:latin typeface="Calibri"/>
              </a:rPr>
              <a:t>Same pipeline, no per-contract tuning. Each demo lands in a distinct band.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06040"/>
            <a:ext cx="1600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F1D18"/>
                </a:solidFill>
                <a:latin typeface="Calibri"/>
              </a:rPr>
              <a:t>High-risk freelance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14599" y="2651760"/>
            <a:ext cx="2880360" cy="274320"/>
          </a:xfrm>
          <a:prstGeom prst="rect">
            <a:avLst/>
          </a:prstGeom>
          <a:solidFill>
            <a:srgbClr val="9A1B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399" y="2651760"/>
            <a:ext cx="4572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9A1B0A"/>
                </a:solidFill>
                <a:latin typeface="Calibri"/>
              </a:rPr>
              <a:t>90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14599" y="2971800"/>
            <a:ext cx="868680" cy="228600"/>
          </a:xfrm>
          <a:prstGeom prst="roundRect">
            <a:avLst>
              <a:gd name="adj" fmla="val 45000"/>
            </a:avLst>
          </a:prstGeom>
          <a:solidFill>
            <a:srgbClr val="F7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14599" y="2971800"/>
            <a:ext cx="86868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9A1B0A"/>
                </a:solidFill>
                <a:latin typeface="Calibri"/>
              </a:rPr>
              <a:t>Critical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383280"/>
            <a:ext cx="1600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F1D18"/>
                </a:solidFill>
                <a:latin typeface="Calibri"/>
              </a:rPr>
              <a:t>SaaS subscription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514599" y="3429000"/>
            <a:ext cx="2720340" cy="27432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26379" y="3429000"/>
            <a:ext cx="4572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C2410C"/>
                </a:solidFill>
                <a:latin typeface="Calibri"/>
              </a:rPr>
              <a:t>85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14599" y="3749040"/>
            <a:ext cx="868680" cy="228600"/>
          </a:xfrm>
          <a:prstGeom prst="roundRect">
            <a:avLst>
              <a:gd name="adj" fmla="val 45000"/>
            </a:avLst>
          </a:prstGeom>
          <a:solidFill>
            <a:srgbClr val="F7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14599" y="3749040"/>
            <a:ext cx="86868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C2410C"/>
                </a:solidFill>
                <a:latin typeface="Calibri"/>
              </a:rPr>
              <a:t>Critical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160520"/>
            <a:ext cx="1600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F1D18"/>
                </a:solidFill>
                <a:latin typeface="Calibri"/>
              </a:rPr>
              <a:t>Held-out influencer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14599" y="4206240"/>
            <a:ext cx="2560320" cy="27432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66359" y="4206240"/>
            <a:ext cx="4572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C2410C"/>
                </a:solidFill>
                <a:latin typeface="Calibri"/>
              </a:rPr>
              <a:t>80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514599" y="4526280"/>
            <a:ext cx="868680" cy="228600"/>
          </a:xfrm>
          <a:prstGeom prst="roundRect">
            <a:avLst>
              <a:gd name="adj" fmla="val 45000"/>
            </a:avLst>
          </a:prstGeom>
          <a:solidFill>
            <a:srgbClr val="F7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514599" y="4526280"/>
            <a:ext cx="86868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C2410C"/>
                </a:solidFill>
                <a:latin typeface="Calibri"/>
              </a:rPr>
              <a:t>Critical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937760"/>
            <a:ext cx="1600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F1D18"/>
                </a:solidFill>
                <a:latin typeface="Calibri"/>
              </a:rPr>
              <a:t>Balanced agreement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514599" y="4983480"/>
            <a:ext cx="1696212" cy="2743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02251" y="4983480"/>
            <a:ext cx="4572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B45309"/>
                </a:solidFill>
                <a:latin typeface="Calibri"/>
              </a:rPr>
              <a:t>53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514599" y="5303520"/>
            <a:ext cx="868680" cy="228600"/>
          </a:xfrm>
          <a:prstGeom prst="roundRect">
            <a:avLst>
              <a:gd name="adj" fmla="val 45000"/>
            </a:avLst>
          </a:prstGeom>
          <a:solidFill>
            <a:srgbClr val="F7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514599" y="5303520"/>
            <a:ext cx="86868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B45309"/>
                </a:solidFill>
                <a:latin typeface="Calibri"/>
              </a:rPr>
              <a:t>Review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5715000"/>
            <a:ext cx="1600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F1D18"/>
                </a:solidFill>
                <a:latin typeface="Calibri"/>
              </a:rPr>
              <a:t>Friendly letter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14599" y="5760720"/>
            <a:ext cx="800100" cy="274320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406139" y="5760720"/>
            <a:ext cx="4572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5803D"/>
                </a:solidFill>
                <a:latin typeface="Calibri"/>
              </a:rPr>
              <a:t>25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514599" y="6080760"/>
            <a:ext cx="868680" cy="228600"/>
          </a:xfrm>
          <a:prstGeom prst="roundRect">
            <a:avLst>
              <a:gd name="adj" fmla="val 45000"/>
            </a:avLst>
          </a:prstGeom>
          <a:solidFill>
            <a:srgbClr val="F7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514599" y="6080760"/>
            <a:ext cx="86868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15803D"/>
                </a:solidFill>
                <a:latin typeface="Calibri"/>
              </a:rPr>
              <a:t>Low Risk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0" y="1554480"/>
            <a:ext cx="5166360" cy="48920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3E6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75120" y="1691640"/>
            <a:ext cx="4709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F1D18"/>
                </a:solidFill>
                <a:latin typeface="Cambria"/>
              </a:rPr>
              <a:t>Confidence calibration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75120" y="2057400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5A6A62"/>
                </a:solidFill>
                <a:latin typeface="Calibri"/>
              </a:rPr>
              <a:t>Mean confidence vs. empirical precision per bin, across 29 gold + held-out findings.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75120" y="274320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F1D18"/>
                </a:solidFill>
                <a:latin typeface="Calibri"/>
              </a:rPr>
              <a:t>[0.55–0.70)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75120" y="30175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A6A62"/>
                </a:solidFill>
                <a:latin typeface="Calibri"/>
              </a:rPr>
              <a:t>n = 6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092440" y="2743200"/>
            <a:ext cx="1508760" cy="292608"/>
          </a:xfrm>
          <a:prstGeom prst="rect">
            <a:avLst/>
          </a:prstGeom>
          <a:solidFill>
            <a:srgbClr val="6F8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692640" y="2743200"/>
            <a:ext cx="109728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0F1D18"/>
                </a:solidFill>
                <a:latin typeface="Calibri"/>
              </a:rPr>
              <a:t>conf 0.66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092440" y="3108960"/>
            <a:ext cx="1897380" cy="292608"/>
          </a:xfrm>
          <a:prstGeom prst="rect">
            <a:avLst/>
          </a:prstGeom>
          <a:solidFill>
            <a:srgbClr val="2F5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081260" y="3108960"/>
            <a:ext cx="109728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0F1D18"/>
                </a:solidFill>
                <a:latin typeface="Calibri"/>
              </a:rPr>
              <a:t>prec 0.83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75120" y="365760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F1D18"/>
                </a:solidFill>
                <a:latin typeface="Calibri"/>
              </a:rPr>
              <a:t>[0.70–0.85)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75120" y="39319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A6A62"/>
                </a:solidFill>
                <a:latin typeface="Calibri"/>
              </a:rPr>
              <a:t>n = 8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092440" y="3657600"/>
            <a:ext cx="1760220" cy="292608"/>
          </a:xfrm>
          <a:prstGeom prst="rect">
            <a:avLst/>
          </a:prstGeom>
          <a:solidFill>
            <a:srgbClr val="6F8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944100" y="3657600"/>
            <a:ext cx="109728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0F1D18"/>
                </a:solidFill>
                <a:latin typeface="Calibri"/>
              </a:rPr>
              <a:t>conf 0.77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092440" y="4023360"/>
            <a:ext cx="2286000" cy="292608"/>
          </a:xfrm>
          <a:prstGeom prst="rect">
            <a:avLst/>
          </a:prstGeom>
          <a:solidFill>
            <a:srgbClr val="2F5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469880" y="4023360"/>
            <a:ext cx="109728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0F1D18"/>
                </a:solidFill>
                <a:latin typeface="Calibri"/>
              </a:rPr>
              <a:t>prec 1.00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675120" y="457200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0F1D18"/>
                </a:solidFill>
                <a:latin typeface="Calibri"/>
              </a:rPr>
              <a:t>[0.85–1.00)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675120" y="48463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A6A62"/>
                </a:solidFill>
                <a:latin typeface="Calibri"/>
              </a:rPr>
              <a:t>n = 15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092440" y="4572000"/>
            <a:ext cx="2171700" cy="292608"/>
          </a:xfrm>
          <a:prstGeom prst="rect">
            <a:avLst/>
          </a:prstGeom>
          <a:solidFill>
            <a:srgbClr val="6F8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355580" y="4572000"/>
            <a:ext cx="109728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0F1D18"/>
                </a:solidFill>
                <a:latin typeface="Calibri"/>
              </a:rPr>
              <a:t>conf 0.95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092440" y="4937760"/>
            <a:ext cx="2286000" cy="292608"/>
          </a:xfrm>
          <a:prstGeom prst="rect">
            <a:avLst/>
          </a:prstGeom>
          <a:solidFill>
            <a:srgbClr val="2F5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469880" y="4937760"/>
            <a:ext cx="109728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0F1D18"/>
                </a:solidFill>
                <a:latin typeface="Calibri"/>
              </a:rPr>
              <a:t>prec 1.00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675120" y="5532120"/>
            <a:ext cx="4617720" cy="777240"/>
          </a:xfrm>
          <a:prstGeom prst="roundRect">
            <a:avLst>
              <a:gd name="adj" fmla="val 7000"/>
            </a:avLst>
          </a:prstGeom>
          <a:solidFill>
            <a:srgbClr val="F6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675120" y="5577840"/>
            <a:ext cx="4617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42A20"/>
                </a:solidFill>
                <a:latin typeface="Calibri"/>
              </a:rPr>
              <a:t>Brier = 0.053  ·  ECE = 0.126  ·  overall precision = 0.97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675120" y="5852160"/>
            <a:ext cx="4617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5A6A62"/>
                </a:solidFill>
                <a:latin typeface="Calibri"/>
              </a:rPr>
              <a:t>Model is slightly under-confident: when it says 0.95 it is right 100% of the time.</a:t>
            </a:r>
          </a:p>
        </p:txBody>
      </p:sp>
      <p:sp>
        <p:nvSpPr>
          <p:cNvPr id="58" name="Rectangle 5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7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57200" y="6601968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A6A62"/>
                </a:solidFill>
                <a:latin typeface="Calibri"/>
              </a:rPr>
              <a:t>ClearClause · NLP Final Project · Spring 2026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41280" y="6601968"/>
            <a:ext cx="1463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A6A62"/>
                </a:solidFill>
                <a:latin typeface="Calibri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502920"/>
            <a:ext cx="73152" cy="640080"/>
          </a:xfrm>
          <a:prstGeom prst="rect">
            <a:avLst/>
          </a:prstGeom>
          <a:solidFill>
            <a:srgbClr val="2F5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5A6A62"/>
                </a:solidFill>
                <a:latin typeface="Calibri"/>
              </a:rPr>
              <a:t>STACK, LIMITS, FUTURE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0F1D18"/>
                </a:solidFill>
                <a:latin typeface="Cambria"/>
              </a:rPr>
              <a:t>What's in the box — and what we'd build next.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7697" y="1645920"/>
            <a:ext cx="3749039" cy="4572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3E6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07697" y="1645920"/>
            <a:ext cx="3749039" cy="109728"/>
          </a:xfrm>
          <a:prstGeom prst="rect">
            <a:avLst/>
          </a:prstGeom>
          <a:solidFill>
            <a:srgbClr val="2F5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2017" y="1874520"/>
            <a:ext cx="3291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5A6A62"/>
                </a:solidFill>
                <a:latin typeface="Calibri"/>
              </a:rPr>
              <a:t>01 / TECH STACK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2017" y="2148840"/>
            <a:ext cx="3291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0F1D18"/>
                </a:solidFill>
                <a:latin typeface="Cambria"/>
              </a:rPr>
              <a:t>Reproducible, lightweight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2017" y="2743200"/>
            <a:ext cx="3291839" cy="33832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1">
                <a:solidFill>
                  <a:srgbClr val="2F5A40"/>
                </a:solidFill>
                <a:latin typeface="Calibri"/>
              </a:rPr>
              <a:t>●  </a:t>
            </a:r>
            <a:r>
              <a:rPr sz="1100">
                <a:solidFill>
                  <a:srgbClr val="243029"/>
                </a:solidFill>
                <a:latin typeface="Calibri"/>
              </a:rPr>
              <a:t>Streamlit · interactive UI with custom CSS</a:t>
            </a:r>
          </a:p>
          <a:p>
            <a:pPr algn="l">
              <a:lnSpc>
                <a:spcPct val="145000"/>
              </a:lnSpc>
            </a:pPr>
            <a:r>
              <a:rPr sz="1100" b="1">
                <a:solidFill>
                  <a:srgbClr val="2F5A40"/>
                </a:solidFill>
                <a:latin typeface="Calibri"/>
              </a:rPr>
              <a:t>●  </a:t>
            </a:r>
            <a:r>
              <a:rPr sz="1100">
                <a:solidFill>
                  <a:srgbClr val="243029"/>
                </a:solidFill>
                <a:latin typeface="Calibri"/>
              </a:rPr>
              <a:t>scikit-learn · TF-IDF + cosine similarity</a:t>
            </a:r>
          </a:p>
          <a:p>
            <a:pPr algn="l">
              <a:lnSpc>
                <a:spcPct val="145000"/>
              </a:lnSpc>
            </a:pPr>
            <a:r>
              <a:rPr sz="1100" b="1">
                <a:solidFill>
                  <a:srgbClr val="2F5A40"/>
                </a:solidFill>
                <a:latin typeface="Calibri"/>
              </a:rPr>
              <a:t>●  </a:t>
            </a:r>
            <a:r>
              <a:rPr sz="1100">
                <a:solidFill>
                  <a:srgbClr val="243029"/>
                </a:solidFill>
                <a:latin typeface="Calibri"/>
              </a:rPr>
              <a:t>Plotly · gauge, donut, radar, calibration chart</a:t>
            </a:r>
          </a:p>
          <a:p>
            <a:pPr algn="l">
              <a:lnSpc>
                <a:spcPct val="145000"/>
              </a:lnSpc>
            </a:pPr>
            <a:r>
              <a:rPr sz="1100" b="1">
                <a:solidFill>
                  <a:srgbClr val="2F5A40"/>
                </a:solidFill>
                <a:latin typeface="Calibri"/>
              </a:rPr>
              <a:t>●  </a:t>
            </a:r>
            <a:r>
              <a:rPr sz="1100">
                <a:solidFill>
                  <a:srgbClr val="243029"/>
                </a:solidFill>
                <a:latin typeface="Calibri"/>
              </a:rPr>
              <a:t>pdfplumber + python-docx · document parsing</a:t>
            </a:r>
          </a:p>
          <a:p>
            <a:pPr algn="l">
              <a:lnSpc>
                <a:spcPct val="145000"/>
              </a:lnSpc>
            </a:pPr>
            <a:r>
              <a:rPr sz="1100" b="1">
                <a:solidFill>
                  <a:srgbClr val="2F5A40"/>
                </a:solidFill>
                <a:latin typeface="Calibri"/>
              </a:rPr>
              <a:t>●  </a:t>
            </a:r>
            <a:r>
              <a:rPr sz="1100">
                <a:solidFill>
                  <a:srgbClr val="243029"/>
                </a:solidFill>
                <a:latin typeface="Calibri"/>
              </a:rPr>
              <a:t>Groq · optional LLM polish (works offline by default)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21328" y="1645920"/>
            <a:ext cx="3749039" cy="4572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3E6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21328" y="1645920"/>
            <a:ext cx="3749039" cy="109728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95648" y="1874520"/>
            <a:ext cx="3291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5A6A62"/>
                </a:solidFill>
                <a:latin typeface="Calibri"/>
              </a:rPr>
              <a:t>02 / KNOWN LIMITS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5648" y="2148840"/>
            <a:ext cx="3291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0F1D18"/>
                </a:solidFill>
                <a:latin typeface="Cambria"/>
              </a:rPr>
              <a:t>Honest weak spots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5648" y="2743200"/>
            <a:ext cx="3291839" cy="33832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1">
                <a:solidFill>
                  <a:srgbClr val="C2410C"/>
                </a:solidFill>
                <a:latin typeface="Calibri"/>
              </a:rPr>
              <a:t>●  </a:t>
            </a:r>
            <a:r>
              <a:rPr sz="1100">
                <a:solidFill>
                  <a:srgbClr val="243029"/>
                </a:solidFill>
                <a:latin typeface="Calibri"/>
              </a:rPr>
              <a:t>Hand-curated catalog → recall capped to known clauses</a:t>
            </a:r>
          </a:p>
          <a:p>
            <a:pPr algn="l">
              <a:lnSpc>
                <a:spcPct val="145000"/>
              </a:lnSpc>
            </a:pPr>
            <a:r>
              <a:rPr sz="1100" b="1">
                <a:solidFill>
                  <a:srgbClr val="C2410C"/>
                </a:solidFill>
                <a:latin typeface="Calibri"/>
              </a:rPr>
              <a:t>●  </a:t>
            </a:r>
            <a:r>
              <a:rPr sz="1100">
                <a:solidFill>
                  <a:srgbClr val="243029"/>
                </a:solidFill>
                <a:latin typeface="Calibri"/>
              </a:rPr>
              <a:t>English only (no Urdu / Arabic support yet)</a:t>
            </a:r>
          </a:p>
          <a:p>
            <a:pPr algn="l">
              <a:lnSpc>
                <a:spcPct val="145000"/>
              </a:lnSpc>
            </a:pPr>
            <a:r>
              <a:rPr sz="1100" b="1">
                <a:solidFill>
                  <a:srgbClr val="C2410C"/>
                </a:solidFill>
                <a:latin typeface="Calibri"/>
              </a:rPr>
              <a:t>●  </a:t>
            </a:r>
            <a:r>
              <a:rPr sz="1100">
                <a:solidFill>
                  <a:srgbClr val="243029"/>
                </a:solidFill>
                <a:latin typeface="Calibri"/>
              </a:rPr>
              <a:t>Section splitter assumes paragraph-block formatting</a:t>
            </a:r>
          </a:p>
          <a:p>
            <a:pPr algn="l">
              <a:lnSpc>
                <a:spcPct val="145000"/>
              </a:lnSpc>
            </a:pPr>
            <a:r>
              <a:rPr sz="1100" b="1">
                <a:solidFill>
                  <a:srgbClr val="C2410C"/>
                </a:solidFill>
                <a:latin typeface="Calibri"/>
              </a:rPr>
              <a:t>●  </a:t>
            </a:r>
            <a:r>
              <a:rPr sz="1100">
                <a:solidFill>
                  <a:srgbClr val="243029"/>
                </a:solidFill>
                <a:latin typeface="Calibri"/>
              </a:rPr>
              <a:t>False positives possible when fair text mentions risky terms</a:t>
            </a:r>
          </a:p>
          <a:p>
            <a:pPr algn="l">
              <a:lnSpc>
                <a:spcPct val="145000"/>
              </a:lnSpc>
            </a:pPr>
            <a:r>
              <a:rPr sz="1100" b="1">
                <a:solidFill>
                  <a:srgbClr val="C2410C"/>
                </a:solidFill>
                <a:latin typeface="Calibri"/>
              </a:rPr>
              <a:t>●  </a:t>
            </a:r>
            <a:r>
              <a:rPr sz="1100">
                <a:solidFill>
                  <a:srgbClr val="243029"/>
                </a:solidFill>
                <a:latin typeface="Calibri"/>
              </a:rPr>
              <a:t>No version-comparison or diff view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4959" y="1645920"/>
            <a:ext cx="3749039" cy="4572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3E6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34959" y="1645920"/>
            <a:ext cx="3749039" cy="109728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09279" y="1874520"/>
            <a:ext cx="3291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5A6A62"/>
                </a:solidFill>
                <a:latin typeface="Calibri"/>
              </a:rPr>
              <a:t>03 / WHAT'S NEXT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09279" y="2148840"/>
            <a:ext cx="3291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0F1D18"/>
                </a:solidFill>
                <a:latin typeface="Cambria"/>
              </a:rPr>
              <a:t>If we kept building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09279" y="2743200"/>
            <a:ext cx="3291839" cy="33832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1">
                <a:solidFill>
                  <a:srgbClr val="B45309"/>
                </a:solidFill>
                <a:latin typeface="Calibri"/>
              </a:rPr>
              <a:t>●  </a:t>
            </a:r>
            <a:r>
              <a:rPr sz="1100">
                <a:solidFill>
                  <a:srgbClr val="243029"/>
                </a:solidFill>
                <a:latin typeface="Calibri"/>
              </a:rPr>
              <a:t>Sentence-Transformer classifier trained on CUAD</a:t>
            </a:r>
          </a:p>
          <a:p>
            <a:pPr algn="l">
              <a:lnSpc>
                <a:spcPct val="145000"/>
              </a:lnSpc>
            </a:pPr>
            <a:r>
              <a:rPr sz="1100" b="1">
                <a:solidFill>
                  <a:srgbClr val="B45309"/>
                </a:solidFill>
                <a:latin typeface="Calibri"/>
              </a:rPr>
              <a:t>●  </a:t>
            </a:r>
            <a:r>
              <a:rPr sz="1100">
                <a:solidFill>
                  <a:srgbClr val="243029"/>
                </a:solidFill>
                <a:latin typeface="Calibri"/>
              </a:rPr>
              <a:t>Inline contract diff between two versions</a:t>
            </a:r>
          </a:p>
          <a:p>
            <a:pPr algn="l">
              <a:lnSpc>
                <a:spcPct val="145000"/>
              </a:lnSpc>
            </a:pPr>
            <a:r>
              <a:rPr sz="1100" b="1">
                <a:solidFill>
                  <a:srgbClr val="B45309"/>
                </a:solidFill>
                <a:latin typeface="Calibri"/>
              </a:rPr>
              <a:t>●  </a:t>
            </a:r>
            <a:r>
              <a:rPr sz="1100">
                <a:solidFill>
                  <a:srgbClr val="243029"/>
                </a:solidFill>
                <a:latin typeface="Calibri"/>
              </a:rPr>
              <a:t>Multi-language support (Urdu + Arabic clauses)</a:t>
            </a:r>
          </a:p>
          <a:p>
            <a:pPr algn="l">
              <a:lnSpc>
                <a:spcPct val="145000"/>
              </a:lnSpc>
            </a:pPr>
            <a:r>
              <a:rPr sz="1100" b="1">
                <a:solidFill>
                  <a:srgbClr val="B45309"/>
                </a:solidFill>
                <a:latin typeface="Calibri"/>
              </a:rPr>
              <a:t>●  </a:t>
            </a:r>
            <a:r>
              <a:rPr sz="1100">
                <a:solidFill>
                  <a:srgbClr val="243029"/>
                </a:solidFill>
                <a:latin typeface="Calibri"/>
              </a:rPr>
              <a:t>Real PDF export with WeasyPrint</a:t>
            </a:r>
          </a:p>
          <a:p>
            <a:pPr algn="l">
              <a:lnSpc>
                <a:spcPct val="145000"/>
              </a:lnSpc>
            </a:pPr>
            <a:r>
              <a:rPr sz="1100" b="1">
                <a:solidFill>
                  <a:srgbClr val="B45309"/>
                </a:solidFill>
                <a:latin typeface="Calibri"/>
              </a:rPr>
              <a:t>●  </a:t>
            </a:r>
            <a:r>
              <a:rPr sz="1100">
                <a:solidFill>
                  <a:srgbClr val="243029"/>
                </a:solidFill>
                <a:latin typeface="Calibri"/>
              </a:rPr>
              <a:t>Cloud deployment + share-link mode for clients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7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6601968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A6A62"/>
                </a:solidFill>
                <a:latin typeface="Calibri"/>
              </a:rPr>
              <a:t>ClearClause · NLP Final Project · Spring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6601968"/>
            <a:ext cx="1463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5A6A62"/>
                </a:solidFill>
                <a:latin typeface="Calibri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A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474720"/>
          </a:xfrm>
          <a:prstGeom prst="rect">
            <a:avLst/>
          </a:prstGeom>
          <a:solidFill>
            <a:srgbClr val="1F3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2F5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280160"/>
            <a:ext cx="12191695" cy="54864"/>
          </a:xfrm>
          <a:prstGeom prst="rect">
            <a:avLst/>
          </a:prstGeom>
          <a:solidFill>
            <a:srgbClr val="B88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548640"/>
            <a:ext cx="1219169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6F5EC"/>
                </a:solidFill>
                <a:latin typeface="Calibri"/>
              </a:rPr>
              <a:t>LIVE DEMO ·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2103120"/>
            <a:ext cx="12191695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7200" b="1" i="0">
                <a:solidFill>
                  <a:srgbClr val="FFFFFF"/>
                </a:solidFill>
                <a:latin typeface="Cambria"/>
              </a:rPr>
              <a:t>Thank you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3657600"/>
            <a:ext cx="12191695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0">
                <a:solidFill>
                  <a:srgbClr val="F6F5EC"/>
                </a:solidFill>
                <a:latin typeface="Calibri"/>
              </a:rPr>
              <a:t>Open the Streamlit app and walk the examiner through the high-risk demo,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3977639"/>
            <a:ext cx="12191695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0">
                <a:solidFill>
                  <a:srgbClr val="F6F5EC"/>
                </a:solidFill>
                <a:latin typeface="Calibri"/>
              </a:rPr>
              <a:t>then switch to the friendly demo to show the gauge in green.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86000" y="4663440"/>
            <a:ext cx="7589520" cy="15544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0" y="48006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5A6A62"/>
                </a:solidFill>
                <a:latin typeface="Calibri"/>
              </a:rPr>
              <a:t>REPOSITORY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0" y="5074920"/>
            <a:ext cx="7315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142A20"/>
                </a:solidFill>
                <a:latin typeface="Cambria"/>
              </a:rPr>
              <a:t>github.com/ShehrozRafaqat/ClearClause-NLP-Project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56235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A6A62"/>
                </a:solidFill>
                <a:latin typeface="Calibri"/>
              </a:rPr>
              <a:t>Shehroz Ali (MSDSF25M012) · Arslan Ahmad (MSDSF25M001)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68880" y="58978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2F5A40"/>
                </a:solidFill>
                <a:latin typeface="Calibri"/>
              </a:rPr>
              <a:t>Streamlit · scikit-learn · Plotly · optional Groq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